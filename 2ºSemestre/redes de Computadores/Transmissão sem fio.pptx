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 flipH="1">
            <a:off x="0" y="0"/>
            <a:ext cx="6578600" cy="6858003"/>
          </a:xfrm>
          <a:custGeom>
            <a:rect b="b" l="l" r="r" t="t"/>
            <a:pathLst>
              <a:path extrusionOk="0" h="6858003" w="6450535">
                <a:moveTo>
                  <a:pt x="3840831" y="0"/>
                </a:moveTo>
                <a:lnTo>
                  <a:pt x="0" y="0"/>
                </a:lnTo>
                <a:lnTo>
                  <a:pt x="0" y="6858002"/>
                </a:lnTo>
                <a:lnTo>
                  <a:pt x="222478" y="6858002"/>
                </a:lnTo>
                <a:lnTo>
                  <a:pt x="222478" y="6858003"/>
                </a:lnTo>
                <a:lnTo>
                  <a:pt x="6450535" y="6858003"/>
                </a:lnTo>
                <a:lnTo>
                  <a:pt x="6450535" y="1"/>
                </a:lnTo>
                <a:lnTo>
                  <a:pt x="38408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 rot="303011">
            <a:off x="2974408" y="700861"/>
            <a:ext cx="2987899" cy="2987899"/>
          </a:xfrm>
          <a:prstGeom prst="arc">
            <a:avLst>
              <a:gd fmla="val 14612914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>
            <p:ph type="ctrTitle"/>
          </p:nvPr>
        </p:nvSpPr>
        <p:spPr>
          <a:xfrm>
            <a:off x="643467" y="795509"/>
            <a:ext cx="5271106" cy="27986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pt-BR">
                <a:solidFill>
                  <a:srgbClr val="FFFFFF"/>
                </a:solidFill>
              </a:rPr>
              <a:t>Transmissão sem fio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201186" y="5486807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643467" y="3686187"/>
            <a:ext cx="5271106" cy="2292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pt-BR">
                <a:solidFill>
                  <a:srgbClr val="FFFFFF"/>
                </a:solidFill>
              </a:rPr>
              <a:t>Professora Dra. Renata de Sousa da Silva Tolentino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pt-BR">
                <a:solidFill>
                  <a:srgbClr val="FFFFFF"/>
                </a:solidFill>
              </a:rPr>
              <a:t>Setembro de 2020.</a:t>
            </a:r>
            <a:endParaRPr/>
          </a:p>
        </p:txBody>
      </p:sp>
      <p:pic>
        <p:nvPicPr>
          <p:cNvPr descr="Fundo preto com letras brancas&#10;&#10;Descrição gerada automaticamente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4836" y="1137636"/>
            <a:ext cx="5096871" cy="1155046"/>
          </a:xfrm>
          <a:custGeom>
            <a:rect b="b" l="l" r="r" t="t"/>
            <a:pathLst>
              <a:path extrusionOk="0" h="3143436" w="5096871">
                <a:moveTo>
                  <a:pt x="75600" y="0"/>
                </a:moveTo>
                <a:lnTo>
                  <a:pt x="5021271" y="0"/>
                </a:lnTo>
                <a:cubicBezTo>
                  <a:pt x="5063024" y="0"/>
                  <a:pt x="5096871" y="33847"/>
                  <a:pt x="5096871" y="75600"/>
                </a:cubicBezTo>
                <a:lnTo>
                  <a:pt x="5096871" y="3067836"/>
                </a:lnTo>
                <a:cubicBezTo>
                  <a:pt x="5096871" y="3109589"/>
                  <a:pt x="5063024" y="3143436"/>
                  <a:pt x="5021271" y="3143436"/>
                </a:cubicBezTo>
                <a:lnTo>
                  <a:pt x="75600" y="3143436"/>
                </a:lnTo>
                <a:cubicBezTo>
                  <a:pt x="33847" y="3143436"/>
                  <a:pt x="0" y="3109589"/>
                  <a:pt x="0" y="3067836"/>
                </a:cubicBezTo>
                <a:lnTo>
                  <a:pt x="0" y="75600"/>
                </a:lnTo>
                <a:cubicBezTo>
                  <a:pt x="0" y="33847"/>
                  <a:pt x="33847" y="0"/>
                  <a:pt x="75600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1348" y="3664334"/>
            <a:ext cx="5096871" cy="2863793"/>
          </a:xfrm>
          <a:custGeom>
            <a:rect b="b" l="l" r="r" t="t"/>
            <a:pathLst>
              <a:path extrusionOk="0" h="3143436" w="5096871">
                <a:moveTo>
                  <a:pt x="75600" y="0"/>
                </a:moveTo>
                <a:lnTo>
                  <a:pt x="5021271" y="0"/>
                </a:lnTo>
                <a:cubicBezTo>
                  <a:pt x="5063024" y="0"/>
                  <a:pt x="5096871" y="33847"/>
                  <a:pt x="5096871" y="75600"/>
                </a:cubicBezTo>
                <a:lnTo>
                  <a:pt x="5096871" y="3067836"/>
                </a:lnTo>
                <a:cubicBezTo>
                  <a:pt x="5096871" y="3109589"/>
                  <a:pt x="5063024" y="3143436"/>
                  <a:pt x="5021271" y="3143436"/>
                </a:cubicBezTo>
                <a:lnTo>
                  <a:pt x="75600" y="3143436"/>
                </a:lnTo>
                <a:cubicBezTo>
                  <a:pt x="33847" y="3143436"/>
                  <a:pt x="0" y="3109589"/>
                  <a:pt x="0" y="3067836"/>
                </a:cubicBezTo>
                <a:lnTo>
                  <a:pt x="0" y="75600"/>
                </a:lnTo>
                <a:cubicBezTo>
                  <a:pt x="0" y="33847"/>
                  <a:pt x="33847" y="0"/>
                  <a:pt x="7560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838200" y="184805"/>
            <a:ext cx="10515600" cy="1505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</a:pPr>
            <a:r>
              <a:rPr lang="pt-BR" sz="46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Espectro Eleromagnético</a:t>
            </a:r>
            <a:br>
              <a:rPr lang="pt-BR" sz="46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8946" y="1203848"/>
            <a:ext cx="7511059" cy="445030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576916" y="6119196"/>
            <a:ext cx="1103511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Disponível em: https://www.google.com/search?q=espectro+eletromagn%C3%A9tico&amp;tbm=isch&amp;ved=2ahUKEwjuxeqB-szrAhUdK7kGHdTsAocQ2-cCegQIABAA&amp;oq=espectro+&amp;gs_lcp=CgNpbWcQARgAMgUIABCxAzICCAAyAggAMgIIADICCAAyAggAMgIIADICCAAyAggAMgIIADoECAAQQzoHCAAQsQMQQ1CV8gdYh5YIYOuhCGgBcAB4AIABe4gBzwmSAQQwLjExmAEAoAEBqgELZ3dzLXdpei1pbWewAQDAAQE&amp;sclient=img&amp;ei=AN1QX-7FJZ3W5OUP1NmLuAg&amp;bih=644&amp;biw=1246&amp;rlz=1C5CHFA_enBR901BR901#imgrc=w3yEsEaGdx53V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Transmissão de Rádio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10" y="0"/>
            <a:ext cx="12191990" cy="685800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" l="787" r="789" t="0"/>
          <a:stretch/>
        </p:blipFill>
        <p:spPr>
          <a:xfrm>
            <a:off x="1155547" y="637762"/>
            <a:ext cx="9889808" cy="5576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Transmissão de Infravermelho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648927" y="338328"/>
            <a:ext cx="10239205" cy="155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/>
              <a:t>Transmissão em infravermelho</a:t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21564" y="2423160"/>
            <a:ext cx="5613569" cy="393031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C8CAC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8"/>
          <p:cNvPicPr preferRelativeResize="0"/>
          <p:nvPr/>
        </p:nvPicPr>
        <p:blipFill/>
        <p:spPr>
          <a:xfrm>
            <a:off x="1296640" y="2742397"/>
            <a:ext cx="3663416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26" name="Google Shape;126;p18"/>
          <p:cNvSpPr/>
          <p:nvPr/>
        </p:nvSpPr>
        <p:spPr>
          <a:xfrm>
            <a:off x="6254749" y="2423160"/>
            <a:ext cx="5613569" cy="393031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C8CAC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6484" y="2883580"/>
            <a:ext cx="4974336" cy="3009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Transmissão via Luz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20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39" name="Google Shape;139;p20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0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0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0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0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0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0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0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0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0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0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0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0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20"/>
          <p:cNvSpPr/>
          <p:nvPr/>
        </p:nvSpPr>
        <p:spPr>
          <a:xfrm rot="10800000">
            <a:off x="5892384" y="4386808"/>
            <a:ext cx="407233" cy="351063"/>
          </a:xfrm>
          <a:prstGeom prst="triangle">
            <a:avLst>
              <a:gd fmla="val 50000" name="adj"/>
            </a:avLst>
          </a:prstGeom>
          <a:solidFill>
            <a:srgbClr val="FA2E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>
            <p:ph type="title"/>
          </p:nvPr>
        </p:nvSpPr>
        <p:spPr>
          <a:xfrm>
            <a:off x="2048256" y="4617720"/>
            <a:ext cx="8083296" cy="9418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sz="4000"/>
          </a:p>
        </p:txBody>
      </p:sp>
      <p:sp>
        <p:nvSpPr>
          <p:cNvPr id="160" name="Google Shape;160;p20"/>
          <p:cNvSpPr/>
          <p:nvPr/>
        </p:nvSpPr>
        <p:spPr>
          <a:xfrm>
            <a:off x="3052847" y="954593"/>
            <a:ext cx="6086306" cy="343221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A2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909" l="0" r="-2" t="0"/>
          <a:stretch/>
        </p:blipFill>
        <p:spPr>
          <a:xfrm>
            <a:off x="3218688" y="1124712"/>
            <a:ext cx="5760720" cy="3099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Satélites de Comunicação</a:t>
            </a:r>
            <a:endParaRPr/>
          </a:p>
        </p:txBody>
      </p:sp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9936" y="643466"/>
            <a:ext cx="6712128" cy="557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pt-BR" sz="4000"/>
              <a:t>Link para vídeo sobre comunicação via satélite geoestacionário brasileiro: https://www.youtube.com/watch?v=n0gMBFAMMzY</a:t>
            </a:r>
            <a:br>
              <a:rPr lang="pt-BR" sz="4000"/>
            </a:br>
            <a:endParaRPr sz="4000"/>
          </a:p>
        </p:txBody>
      </p:sp>
      <p:sp>
        <p:nvSpPr>
          <p:cNvPr id="178" name="Google Shape;178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Exercício avaliativo</a:t>
            </a:r>
            <a:endParaRPr/>
          </a:p>
        </p:txBody>
      </p: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Vocês deverão dividir o trabalho em grupo de até 5 pessoas: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Cada grupo deve escolher um tema abaixo: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Transmissão via ondas de rádio;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Transmissão em infravermelho;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Transmissão de micro-ondas;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Satélites de comunicação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Fibra óptica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Fio metálico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Cada grupo deve preparar uma apresentação sobre o tema, tendo como referência o texto do livro de Redes de Computadores, poderá ser exibido algum vídeo, ou apresentação em powerpoint ou ainda em word.</a:t>
            </a:r>
            <a:endParaRPr/>
          </a:p>
          <a:p>
            <a:pPr indent="-101600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