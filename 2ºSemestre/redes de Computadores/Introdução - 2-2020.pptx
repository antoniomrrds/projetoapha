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6858000" cx="9144000"/>
  <p:notesSz cx="6705600" cy="9982200"/>
  <p:embeddedFontLst>
    <p:embeddedFont>
      <p:font typeface="Garamond"/>
      <p:regular r:id="rId50"/>
      <p:bold r:id="rId51"/>
      <p:italic r:id="rId52"/>
      <p:boldItalic r:id="rId53"/>
    </p:embeddedFont>
    <p:embeddedFont>
      <p:font typeface="Source Sans Pr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B3E28-44B8-420F-8F5F-BB1E452096A5}">
  <a:tblStyle styleId="{017B3E28-44B8-420F-8F5F-BB1E452096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Garamond-bold.fntdata"/><Relationship Id="rId50" Type="http://schemas.openxmlformats.org/officeDocument/2006/relationships/font" Target="fonts/Garamond-regular.fntdata"/><Relationship Id="rId53" Type="http://schemas.openxmlformats.org/officeDocument/2006/relationships/font" Target="fonts/Garamond-boldItalic.fntdata"/><Relationship Id="rId52" Type="http://schemas.openxmlformats.org/officeDocument/2006/relationships/font" Target="fonts/Garamond-italic.fntdata"/><Relationship Id="rId11" Type="http://schemas.openxmlformats.org/officeDocument/2006/relationships/slide" Target="slides/slide4.xml"/><Relationship Id="rId55" Type="http://schemas.openxmlformats.org/officeDocument/2006/relationships/font" Target="fonts/SourceSansPro-bold.fntdata"/><Relationship Id="rId10" Type="http://schemas.openxmlformats.org/officeDocument/2006/relationships/slide" Target="slides/slide3.xml"/><Relationship Id="rId54" Type="http://schemas.openxmlformats.org/officeDocument/2006/relationships/font" Target="fonts/SourceSansPro-regular.fntdata"/><Relationship Id="rId13" Type="http://schemas.openxmlformats.org/officeDocument/2006/relationships/slide" Target="slides/slide6.xml"/><Relationship Id="rId57" Type="http://schemas.openxmlformats.org/officeDocument/2006/relationships/font" Target="fonts/SourceSansPro-boldItalic.fntdata"/><Relationship Id="rId12" Type="http://schemas.openxmlformats.org/officeDocument/2006/relationships/slide" Target="slides/slide5.xml"/><Relationship Id="rId56" Type="http://schemas.openxmlformats.org/officeDocument/2006/relationships/font" Target="fonts/SourceSansPr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8887" y="0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1" name="Google Shape;441;p24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24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5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5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6" name="Google Shape;456;p26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6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:notes"/>
          <p:cNvSpPr txBox="1"/>
          <p:nvPr/>
        </p:nvSpPr>
        <p:spPr>
          <a:xfrm>
            <a:off x="3798887" y="9482137"/>
            <a:ext cx="290512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62" name="Google Shape;462;p27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27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8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9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9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1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2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4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4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5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6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7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7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8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8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9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9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0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0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1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1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:notes"/>
          <p:cNvSpPr txBox="1"/>
          <p:nvPr>
            <p:ph idx="1" type="body"/>
          </p:nvPr>
        </p:nvSpPr>
        <p:spPr>
          <a:xfrm>
            <a:off x="669925" y="4741862"/>
            <a:ext cx="5365750" cy="44910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2:notes"/>
          <p:cNvSpPr/>
          <p:nvPr>
            <p:ph idx="2" type="sldImg"/>
          </p:nvPr>
        </p:nvSpPr>
        <p:spPr>
          <a:xfrm>
            <a:off x="857250" y="749300"/>
            <a:ext cx="4991100" cy="3743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322921" y="1523999"/>
            <a:ext cx="6498158" cy="17248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ts val="5060"/>
              <a:buFont typeface="Noto Sans Symbols"/>
              <a:buNone/>
              <a:defRPr sz="46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22921" y="3299012"/>
            <a:ext cx="6498159" cy="916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None/>
              <a:defRPr sz="18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4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⚫"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conteúdo" type="txAndObj">
  <p:cSld name="TEXT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⚫"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⚫"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 rot="5400000">
            <a:off x="5344142" y="2393951"/>
            <a:ext cx="5575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 rot="5400000">
            <a:off x="1106487" y="-188912"/>
            <a:ext cx="5575300" cy="668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⚫"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398713" y="-249237"/>
            <a:ext cx="4343400" cy="804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⚫"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533398" y="611872"/>
            <a:ext cx="407954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533398" y="1787856"/>
            <a:ext cx="4079545" cy="3720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98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9pPr>
          </a:lstStyle>
          <a:p/>
        </p:txBody>
      </p:sp>
      <p:sp>
        <p:nvSpPr>
          <p:cNvPr id="56" name="Google Shape;56;p8"/>
          <p:cNvSpPr/>
          <p:nvPr>
            <p:ph idx="2" type="pic"/>
          </p:nvPr>
        </p:nvSpPr>
        <p:spPr>
          <a:xfrm>
            <a:off x="5090617" y="359392"/>
            <a:ext cx="3657600" cy="531807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0500" rotWithShape="0" algn="ctr" sy="100500">
              <a:srgbClr val="00000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2000"/>
              </a:spcBef>
              <a:spcAft>
                <a:spcPts val="0"/>
              </a:spcAft>
              <a:buClr>
                <a:srgbClr val="6DB7D7"/>
              </a:buClr>
              <a:buSzPts val="3520"/>
              <a:buFont typeface="Noto Sans Symbols"/>
              <a:buNone/>
              <a:defRPr sz="320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3080"/>
              <a:buFont typeface="Noto Sans Symbols"/>
              <a:buNone/>
              <a:defRPr b="0" i="0" sz="2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None/>
              <a:defRPr b="0" i="0" sz="24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533399" y="611872"/>
            <a:ext cx="384048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742824" y="368300"/>
            <a:ext cx="3840480" cy="55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2270" lvl="0" marL="457200" algn="l">
              <a:spcBef>
                <a:spcPts val="2000"/>
              </a:spcBef>
              <a:spcAft>
                <a:spcPts val="0"/>
              </a:spcAft>
              <a:buSzPts val="2420"/>
              <a:buChar char="⚫"/>
              <a:defRPr sz="2200"/>
            </a:lvl1pPr>
            <a:lvl2pPr indent="-368300" lvl="1" marL="914400" algn="l">
              <a:spcBef>
                <a:spcPts val="600"/>
              </a:spcBef>
              <a:spcAft>
                <a:spcPts val="0"/>
              </a:spcAft>
              <a:buSzPts val="2200"/>
              <a:buChar char="⚫"/>
              <a:defRPr sz="2000"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5pPr>
            <a:lvl6pPr indent="-368300" lvl="5" marL="2743200" algn="l">
              <a:spcBef>
                <a:spcPts val="400"/>
              </a:spcBef>
              <a:spcAft>
                <a:spcPts val="0"/>
              </a:spcAft>
              <a:buSzPts val="2200"/>
              <a:buChar char="⚫"/>
              <a:defRPr sz="2000"/>
            </a:lvl6pPr>
            <a:lvl7pPr indent="-368300" lvl="6" marL="3200400" algn="l">
              <a:spcBef>
                <a:spcPts val="400"/>
              </a:spcBef>
              <a:spcAft>
                <a:spcPts val="0"/>
              </a:spcAft>
              <a:buSzPts val="2200"/>
              <a:buChar char="⚫"/>
              <a:defRPr sz="2000"/>
            </a:lvl7pPr>
            <a:lvl8pPr indent="-368300" lvl="7" marL="3657600" algn="l">
              <a:spcBef>
                <a:spcPts val="400"/>
              </a:spcBef>
              <a:spcAft>
                <a:spcPts val="0"/>
              </a:spcAft>
              <a:buSzPts val="2200"/>
              <a:buChar char="⚫"/>
              <a:defRPr sz="2000"/>
            </a:lvl8pPr>
            <a:lvl9pPr indent="-368300" lvl="8" marL="4114800" algn="l">
              <a:spcBef>
                <a:spcPts val="400"/>
              </a:spcBef>
              <a:spcAft>
                <a:spcPts val="0"/>
              </a:spcAft>
              <a:buSzPts val="2200"/>
              <a:buChar char="⚫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533399" y="1787856"/>
            <a:ext cx="3840480" cy="3720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198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549274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549274" y="1453224"/>
            <a:ext cx="3840480" cy="750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640"/>
              <a:buNone/>
              <a:defRPr b="0" sz="2400">
                <a:solidFill>
                  <a:srgbClr val="6DB7D7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79" name="Google Shape;79;p12"/>
          <p:cNvSpPr txBox="1"/>
          <p:nvPr>
            <p:ph idx="2" type="body"/>
          </p:nvPr>
        </p:nvSpPr>
        <p:spPr>
          <a:xfrm>
            <a:off x="549274" y="2347415"/>
            <a:ext cx="3840480" cy="35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spcBef>
                <a:spcPts val="1600"/>
              </a:spcBef>
              <a:spcAft>
                <a:spcPts val="0"/>
              </a:spcAft>
              <a:buSzPts val="2200"/>
              <a:buChar char="⚫"/>
              <a:defRPr sz="2000"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5pPr>
            <a:lvl6pPr indent="-340360" lvl="5" marL="27432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6pPr>
            <a:lvl7pPr indent="-340360" lvl="6" marL="32004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7pPr>
            <a:lvl8pPr indent="-340359" lvl="7" marL="36576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8pPr>
            <a:lvl9pPr indent="-340359" lvl="8" marL="41148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9pPr>
          </a:lstStyle>
          <a:p/>
        </p:txBody>
      </p:sp>
      <p:sp>
        <p:nvSpPr>
          <p:cNvPr id="80" name="Google Shape;80;p12"/>
          <p:cNvSpPr txBox="1"/>
          <p:nvPr>
            <p:ph idx="3" type="body"/>
          </p:nvPr>
        </p:nvSpPr>
        <p:spPr>
          <a:xfrm>
            <a:off x="4751070" y="1453224"/>
            <a:ext cx="3840480" cy="750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640"/>
              <a:buNone/>
              <a:defRPr b="0" sz="2400">
                <a:solidFill>
                  <a:srgbClr val="6DB7D7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81" name="Google Shape;81;p12"/>
          <p:cNvSpPr txBox="1"/>
          <p:nvPr>
            <p:ph idx="4" type="body"/>
          </p:nvPr>
        </p:nvSpPr>
        <p:spPr>
          <a:xfrm>
            <a:off x="4751070" y="2347415"/>
            <a:ext cx="3840480" cy="35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spcBef>
                <a:spcPts val="1600"/>
              </a:spcBef>
              <a:spcAft>
                <a:spcPts val="0"/>
              </a:spcAft>
              <a:buSzPts val="2200"/>
              <a:buChar char="⚫"/>
              <a:defRPr sz="2000"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5pPr>
            <a:lvl6pPr indent="-340360" lvl="5" marL="27432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6pPr>
            <a:lvl7pPr indent="-340360" lvl="6" marL="32004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7pPr>
            <a:lvl8pPr indent="-340359" lvl="7" marL="36576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8pPr>
            <a:lvl9pPr indent="-340359" lvl="8" marL="4114800" algn="l">
              <a:spcBef>
                <a:spcPts val="320"/>
              </a:spcBef>
              <a:spcAft>
                <a:spcPts val="0"/>
              </a:spcAft>
              <a:buSzPts val="1760"/>
              <a:buChar char="⚫"/>
              <a:defRPr sz="16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549275" y="1600201"/>
            <a:ext cx="384048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spcBef>
                <a:spcPts val="1600"/>
              </a:spcBef>
              <a:spcAft>
                <a:spcPts val="0"/>
              </a:spcAft>
              <a:buSzPts val="2200"/>
              <a:buChar char="⚫"/>
              <a:defRPr sz="2000"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9pPr>
          </a:lstStyle>
          <a:p/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4751071" y="1600201"/>
            <a:ext cx="384048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spcBef>
                <a:spcPts val="1600"/>
              </a:spcBef>
              <a:spcAft>
                <a:spcPts val="0"/>
              </a:spcAft>
              <a:buSzPts val="2200"/>
              <a:buChar char="⚫"/>
              <a:defRPr sz="2000"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4pPr>
            <a:lvl5pPr indent="-354329" lvl="4" marL="2286000" algn="l">
              <a:spcBef>
                <a:spcPts val="600"/>
              </a:spcBef>
              <a:spcAft>
                <a:spcPts val="0"/>
              </a:spcAft>
              <a:buSzPts val="1980"/>
              <a:buChar char="⚫"/>
              <a:defRPr sz="1800"/>
            </a:lvl5pPr>
            <a:lvl6pPr indent="-354329" lvl="5" marL="27432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6pPr>
            <a:lvl7pPr indent="-354329" lvl="6" marL="32004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7pPr>
            <a:lvl8pPr indent="-354329" lvl="7" marL="36576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8pPr>
            <a:lvl9pPr indent="-354329" lvl="8" marL="4114800" algn="l">
              <a:spcBef>
                <a:spcPts val="360"/>
              </a:spcBef>
              <a:spcAft>
                <a:spcPts val="0"/>
              </a:spcAft>
              <a:buSzPts val="1980"/>
              <a:buChar char="⚫"/>
              <a:defRPr sz="1800"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549275" y="2403144"/>
            <a:ext cx="8056563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46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49275" y="3736005"/>
            <a:ext cx="805656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>
  <p:cSld name="Title Slide with Pictur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363538" y="3352801"/>
            <a:ext cx="8416925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363538" y="4771029"/>
            <a:ext cx="8416925" cy="97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4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5"/>
          <p:cNvSpPr/>
          <p:nvPr>
            <p:ph idx="2" type="pic"/>
          </p:nvPr>
        </p:nvSpPr>
        <p:spPr>
          <a:xfrm>
            <a:off x="370980" y="363538"/>
            <a:ext cx="8402040" cy="283686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0500" rotWithShape="0" algn="ctr" sy="100500">
              <a:srgbClr val="00000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3520"/>
              <a:buFont typeface="Noto Sans Symbols"/>
              <a:buNone/>
              <a:defRPr sz="3200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3080"/>
              <a:buFont typeface="Noto Sans Symbols"/>
              <a:buNone/>
              <a:defRPr b="0" i="0" sz="2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None/>
              <a:defRPr b="0" i="0" sz="24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328737" y="1295400"/>
            <a:ext cx="6486525" cy="31527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100500" sy="100500">
              <a:srgbClr val="000000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  <a:defRPr b="0" i="0" sz="24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2269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  <a:defRPr b="0" i="0" sz="22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683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433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4329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432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4329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4329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4329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 u="none" cap="none" strike="noStrik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  <a:defRPr b="0" i="0" sz="24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2269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  <a:defRPr b="0" i="0" sz="22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683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  <a:defRPr b="0" i="0" sz="20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433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4329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432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4329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4329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4329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⚫"/>
              <a:defRPr b="0" i="0" sz="1800" u="none" cap="none" strike="noStrik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5629275" y="62753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65112" y="6275387"/>
            <a:ext cx="4840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897812" y="6275387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0" i="0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9.jpg"/><Relationship Id="rId5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6.jpg"/><Relationship Id="rId7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5" Type="http://schemas.openxmlformats.org/officeDocument/2006/relationships/image" Target="../media/image14.jpg"/><Relationship Id="rId6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1322387" y="1524000"/>
            <a:ext cx="6499225" cy="172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60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REDE DE COMPUTADORES</a:t>
            </a:r>
            <a:endParaRPr/>
          </a:p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795337" y="4462462"/>
            <a:ext cx="7232650" cy="177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b="0" i="0" lang="en-US" sz="18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Prof.ª Dra. RENATA S.S. TOLENTINO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80"/>
              <a:buNone/>
            </a:pPr>
            <a:r>
              <a:rPr b="0" i="0" lang="en-US" sz="18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0" i="0" sz="1800" u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INTRODUÇÃO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CONCEITO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sentido mais básico, uma rede são dois ou mais computadores que compartilham informações. (SCRIMGER, et all 2002).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Variam em tamanho de apenas alguns clientes até milhões deles.</a:t>
            </a:r>
            <a:endParaRPr/>
          </a:p>
          <a:p>
            <a:pPr indent="-282575" lvl="2" marL="96837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 cliente é um requisitante na rede e é também um nó.</a:t>
            </a:r>
            <a:endParaRPr/>
          </a:p>
          <a:p>
            <a:pPr indent="-282575" lvl="2" marL="968375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 nó é qualquer dispositivo na rede que tenha uma interface (placa) de rede e que esteja ativo. (SCRIMGER, et all 2002).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Alguns dispositivos de rede somente respondem às requisições dos clientes como impressoras, roteadores, switches, etc. (SCRIMGER, et all 2002).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Todos os clientes ou nós (dispositivos) de uma rede devem utilizar o mesmo protocolo ou os mesmos protocolos para trocar informações. (SCRIMGER, et all 2002).</a:t>
            </a:r>
            <a:endParaRPr/>
          </a:p>
          <a:p>
            <a:pPr indent="-181610" lvl="0" marL="34925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Uma rede de computadores é formada por um conjunto de módulos processáveis capazes de trocar informações e compartilhar recursos, interligados por um sistema de comunicação.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 sistema de comunicação vai se construir de um arranjo topológico interligando os vários módulos processadores através  de enlaces físicos (meios de transmissão) e de um conjunto de regras com o fim de organizar a comunicação (protocolos).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OBJETIVOS E VANTAGENS DE IMPLEMENTAÇÃO 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95287" y="2060575"/>
            <a:ext cx="8229600" cy="219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0" i="0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Compartilhamento de dados (arquivos, e-mails, agenda de compromissos, mensagens instantâneas, videoconferência etc.);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0" i="0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Compartilhamento de recursos (impressoras, conexão com a Internet etc);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0" i="0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Administração centralizada.</a:t>
            </a:r>
            <a:endParaRPr/>
          </a:p>
          <a:p>
            <a:pPr indent="-209550" lvl="0" marL="34925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HISTÓRICO</a:t>
            </a:r>
            <a:br>
              <a:rPr b="0" i="0" lang="en-US" sz="38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</a:b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Cada um dos últimos séculos foi dominado por uma única tecnologia:</a:t>
            </a:r>
            <a:endParaRPr/>
          </a:p>
          <a:p>
            <a:pPr indent="-646112" lvl="1" marL="9906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século XVIII foi a época dos grandes sistemas mecânicos, característica da Revolução Industrial.</a:t>
            </a:r>
            <a:endParaRPr/>
          </a:p>
          <a:p>
            <a:pPr indent="-646112" lvl="1" marL="9906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século XIX foi a era das máquinas a vapor.</a:t>
            </a:r>
            <a:endParaRPr/>
          </a:p>
          <a:p>
            <a:pPr indent="-646112" lvl="1" marL="9906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século XX foi marcado por conquistas tecnológicas no campo da Informação. </a:t>
            </a:r>
            <a:endParaRPr/>
          </a:p>
          <a:p>
            <a:pPr indent="-700087" lvl="2" marL="1371600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Encontramos as redes de telefonia, a invenção do rádio e da televisão, o nascimento e o crescimento sem precedentes da indústria de computadores e o lançamento dos satélites de comunicação.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196975"/>
            <a:ext cx="7786687" cy="482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indústria de informática é jovem quando comparada a outros setores (como, por exemplo, o de automóveis e o de transportes aéreos), e sua atualização é constante.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Nas duas primeiras décadas de sua existência, os sistemas operacionais eram acondicionados, geralmente, em prédios.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Uma empresa de médio porte ou uma universidade contava apenas com um ou dois computadores, enquanto as grandes instituições tinham no máximo algumas dezenas.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Era ficção científica a idéia de que em apenas 20 anos, haveria milhões de computadores igualmente avançados.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fusão dos computadores e das comunicações teve uma profunda influência na forma como os sistemas computacionais eram organizados.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Estava ultrapassado o conceito de centro de computadores, com uma sala para onde os usuários levavam os programas a serem processados.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velho modelo de um computador atendendo a todas às necessidades computacionais da organização foi substituído pelas chamadas redes de computadores, nas quais os trabalhos são realizados por uma série de computadores interconectados.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aramond"/>
              <a:buNone/>
            </a:pPr>
            <a:r>
              <a:rPr b="0" i="0" lang="en-US" sz="3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TIPOS DE REDES DE COMPUTADORES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1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Abrangência</a:t>
            </a: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redes podem ser classificadas de acordo com o tamanho da área geográfica que elas abrangem. As classificações mais comuns são:</a:t>
            </a:r>
            <a:endParaRPr b="1" i="0" sz="21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2" marL="96837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LAN (Local Area Network):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mais conhecida como rede local, é o tipo mais comum de rede, abrangendo o espaço de uma sala, escritório ou mesmo um prédio inteiro.  A arquitetura mais popular deste tipo de rede chama-se Wi-Fi ou IEEE 802.3.</a:t>
            </a:r>
            <a:endParaRPr/>
          </a:p>
          <a:p>
            <a:pPr indent="-282575" lvl="2" marL="96837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WLAN (Wireless Local Area Network)</a:t>
            </a: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idem à anterior, porém sem o uso de cabos, usando transmissões em radiofrequncia. A arquitetura mais popular deste tipo de rede chama-se Wi-Fi ou IEEE 802.11.</a:t>
            </a:r>
            <a:endParaRPr/>
          </a:p>
          <a:p>
            <a:pPr indent="-282575" lvl="2" marL="968375" marR="0" rtl="0" algn="just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CAN (Campus Area Network)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também chamada de rede de campos, é uma rede maior que a rede local, com abrangência de mais de um prédio – e m outras palavras, é compota de pelo menos duas redes locais interligadas. As redes de Universidades, hospitais e de grandes empresas normalmente caem nesta classificação.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2" marL="968375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VLAN (Virtual Local Area Network)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podemos configurar uma rede para que determinadas máquinas passem a fazer parte de uma mesma rede local , mesmo que elas estejam fisicamente distantes uma da outra, para que possa ter acesso aos mesmos recursos</a:t>
            </a:r>
            <a:endParaRPr/>
          </a:p>
          <a:p>
            <a:pPr indent="-282575" lvl="2" marL="968375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MAN (Metropolitan Area Network)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as redes metropolitanas são redes maiores que as LANs e CANs e que cobrem uma área geográfica que pode ultrapassar o limite das cidades. Elas interconectam LANs normalmente localizadas em cidades dentro de um mesmo estado ou de estados limítrofes. </a:t>
            </a:r>
            <a:endParaRPr/>
          </a:p>
          <a:p>
            <a:pPr indent="-282575" lvl="2" marL="968375" marR="0" rtl="0" algn="just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WAN (Wide Area Network)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também chamada de rede de longa distância, abrange uma área maior do que apenas  uma cidade. A Internet é o melhor exemplo de uma WAN, muito embora alguns autores tenham criado uma categoria específica para ela: GAN (Global Area Network ou rede global).</a:t>
            </a:r>
            <a:endParaRPr b="1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925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1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Quando ao Modelo Computacional </a:t>
            </a: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as redes podem ser classificadas também de acordo com o modo como os dados são processados: processamento centralizado, processamento distribuído ou processamento cooperativo. </a:t>
            </a:r>
            <a:endParaRPr b="1" i="0" sz="21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Computação Centralizada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tem um computador com grande capacidade de processamento sendo acessado através de terminais sem qualquer poder de processamento (terminais burros), que apenas nos dão dispositivos de entrada e para nos conectarmos ao computador central.</a:t>
            </a:r>
            <a:endParaRPr/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1980"/>
              <a:buFont typeface="Noto Sans Symbols"/>
              <a:buChar char="⚫"/>
            </a:pPr>
            <a:r>
              <a:rPr b="1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Computação Distribuída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na computação distribuída cada máquina tem seu próprio processador e, portanto poder de processamento. Redes baseadas em computação distribuída podem ser classificadas em cliente/servidor, ponto-a-ponto, baseada em servidor e front-end/back-end.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457200" y="1600200"/>
            <a:ext cx="822960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95299" lvl="1" marL="839787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1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ao tipo de Comutação</a:t>
            </a:r>
            <a:endParaRPr/>
          </a:p>
          <a:p>
            <a:pPr indent="-419099" lvl="2" marL="1090612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Comutação por circuitos: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sistema telefônico</a:t>
            </a: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indent="-419099" lvl="2" marL="1090612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Comutação por pacotes: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arquitetura de rede.</a:t>
            </a:r>
            <a:endParaRPr/>
          </a:p>
        </p:txBody>
      </p:sp>
      <p:cxnSp>
        <p:nvCxnSpPr>
          <p:cNvPr id="179" name="Google Shape;179;p27"/>
          <p:cNvCxnSpPr/>
          <p:nvPr/>
        </p:nvCxnSpPr>
        <p:spPr>
          <a:xfrm>
            <a:off x="5076825" y="3441700"/>
            <a:ext cx="0" cy="1444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" name="Google Shape;180;p27"/>
          <p:cNvCxnSpPr/>
          <p:nvPr/>
        </p:nvCxnSpPr>
        <p:spPr>
          <a:xfrm>
            <a:off x="2555875" y="4581525"/>
            <a:ext cx="15843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" name="Google Shape;181;p27"/>
          <p:cNvCxnSpPr/>
          <p:nvPr/>
        </p:nvCxnSpPr>
        <p:spPr>
          <a:xfrm>
            <a:off x="4140200" y="458152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2" name="Google Shape;182;p27"/>
          <p:cNvCxnSpPr/>
          <p:nvPr/>
        </p:nvCxnSpPr>
        <p:spPr>
          <a:xfrm>
            <a:off x="3995737" y="3424237"/>
            <a:ext cx="0" cy="1444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3" name="Google Shape;183;p27"/>
          <p:cNvCxnSpPr/>
          <p:nvPr/>
        </p:nvCxnSpPr>
        <p:spPr>
          <a:xfrm>
            <a:off x="5076825" y="3429000"/>
            <a:ext cx="0" cy="1444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4" name="Google Shape;184;p27"/>
          <p:cNvCxnSpPr/>
          <p:nvPr/>
        </p:nvCxnSpPr>
        <p:spPr>
          <a:xfrm rot="10800000">
            <a:off x="5292725" y="5394325"/>
            <a:ext cx="1368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185" name="Google Shape;185;p27"/>
          <p:cNvGrpSpPr/>
          <p:nvPr/>
        </p:nvGrpSpPr>
        <p:grpSpPr>
          <a:xfrm>
            <a:off x="755650" y="2971800"/>
            <a:ext cx="7056437" cy="2933700"/>
            <a:chOff x="476" y="1872"/>
            <a:chExt cx="4445" cy="1848"/>
          </a:xfrm>
        </p:grpSpPr>
        <p:sp>
          <p:nvSpPr>
            <p:cNvPr id="186" name="Google Shape;186;p27"/>
            <p:cNvSpPr txBox="1"/>
            <p:nvPr/>
          </p:nvSpPr>
          <p:spPr>
            <a:xfrm>
              <a:off x="2154" y="1872"/>
              <a:ext cx="1497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Redes Comutadas</a:t>
              </a:r>
              <a:endParaRPr/>
            </a:p>
          </p:txBody>
        </p:sp>
        <p:sp>
          <p:nvSpPr>
            <p:cNvPr id="187" name="Google Shape;187;p27"/>
            <p:cNvSpPr txBox="1"/>
            <p:nvPr/>
          </p:nvSpPr>
          <p:spPr>
            <a:xfrm>
              <a:off x="3334" y="3483"/>
              <a:ext cx="1497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Circuitos virtuais</a:t>
              </a:r>
              <a:endParaRPr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476" y="3051"/>
              <a:ext cx="1497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Sem conexão</a:t>
              </a:r>
              <a:endParaRPr/>
            </a:p>
          </p:txBody>
        </p:sp>
        <p:sp>
          <p:nvSpPr>
            <p:cNvPr id="189" name="Google Shape;189;p27"/>
            <p:cNvSpPr txBox="1"/>
            <p:nvPr/>
          </p:nvSpPr>
          <p:spPr>
            <a:xfrm>
              <a:off x="2064" y="3029"/>
              <a:ext cx="1497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Orientada à conexão</a:t>
              </a:r>
              <a:endParaRPr/>
            </a:p>
          </p:txBody>
        </p:sp>
        <p:sp>
          <p:nvSpPr>
            <p:cNvPr id="190" name="Google Shape;190;p27"/>
            <p:cNvSpPr txBox="1"/>
            <p:nvPr/>
          </p:nvSpPr>
          <p:spPr>
            <a:xfrm>
              <a:off x="703" y="2325"/>
              <a:ext cx="1497" cy="41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Comutação de pacotes</a:t>
              </a:r>
              <a:endParaRPr/>
            </a:p>
          </p:txBody>
        </p:sp>
        <p:sp>
          <p:nvSpPr>
            <p:cNvPr id="191" name="Google Shape;191;p27"/>
            <p:cNvSpPr txBox="1"/>
            <p:nvPr/>
          </p:nvSpPr>
          <p:spPr>
            <a:xfrm>
              <a:off x="1292" y="3483"/>
              <a:ext cx="1497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Sem rotas fixas</a:t>
              </a:r>
              <a:endParaRPr/>
            </a:p>
          </p:txBody>
        </p:sp>
        <p:sp>
          <p:nvSpPr>
            <p:cNvPr id="192" name="Google Shape;192;p27"/>
            <p:cNvSpPr txBox="1"/>
            <p:nvPr/>
          </p:nvSpPr>
          <p:spPr>
            <a:xfrm>
              <a:off x="3424" y="2341"/>
              <a:ext cx="1497" cy="41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Comutação de circuitos</a:t>
              </a:r>
              <a:endParaRPr/>
            </a:p>
          </p:txBody>
        </p:sp>
        <p:cxnSp>
          <p:nvCxnSpPr>
            <p:cNvPr id="193" name="Google Shape;193;p27"/>
            <p:cNvCxnSpPr/>
            <p:nvPr/>
          </p:nvCxnSpPr>
          <p:spPr>
            <a:xfrm rot="10800000">
              <a:off x="1655" y="2264"/>
              <a:ext cx="86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4" name="Google Shape;194;p27"/>
            <p:cNvCxnSpPr/>
            <p:nvPr/>
          </p:nvCxnSpPr>
          <p:spPr>
            <a:xfrm rot="10800000">
              <a:off x="3198" y="2256"/>
              <a:ext cx="86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5" name="Google Shape;195;p27"/>
            <p:cNvCxnSpPr/>
            <p:nvPr/>
          </p:nvCxnSpPr>
          <p:spPr>
            <a:xfrm>
              <a:off x="1655" y="2248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6" name="Google Shape;196;p27"/>
            <p:cNvCxnSpPr/>
            <p:nvPr/>
          </p:nvCxnSpPr>
          <p:spPr>
            <a:xfrm>
              <a:off x="4067" y="2248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7" name="Google Shape;197;p27"/>
            <p:cNvCxnSpPr/>
            <p:nvPr/>
          </p:nvCxnSpPr>
          <p:spPr>
            <a:xfrm>
              <a:off x="1292" y="2792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8" name="Google Shape;198;p27"/>
            <p:cNvCxnSpPr/>
            <p:nvPr/>
          </p:nvCxnSpPr>
          <p:spPr>
            <a:xfrm>
              <a:off x="1610" y="2776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99" name="Google Shape;199;p27"/>
            <p:cNvCxnSpPr/>
            <p:nvPr/>
          </p:nvCxnSpPr>
          <p:spPr>
            <a:xfrm>
              <a:off x="2608" y="2883"/>
              <a:ext cx="0" cy="1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0" name="Google Shape;200;p27"/>
            <p:cNvCxnSpPr/>
            <p:nvPr/>
          </p:nvCxnSpPr>
          <p:spPr>
            <a:xfrm rot="10800000">
              <a:off x="1791" y="3427"/>
              <a:ext cx="86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1" name="Google Shape;201;p27"/>
            <p:cNvCxnSpPr/>
            <p:nvPr/>
          </p:nvCxnSpPr>
          <p:spPr>
            <a:xfrm>
              <a:off x="2517" y="2162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2" name="Google Shape;202;p27"/>
            <p:cNvCxnSpPr/>
            <p:nvPr/>
          </p:nvCxnSpPr>
          <p:spPr>
            <a:xfrm>
              <a:off x="3198" y="2149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3" name="Google Shape;203;p27"/>
            <p:cNvCxnSpPr/>
            <p:nvPr/>
          </p:nvCxnSpPr>
          <p:spPr>
            <a:xfrm>
              <a:off x="1791" y="3427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4" name="Google Shape;204;p27"/>
            <p:cNvCxnSpPr/>
            <p:nvPr/>
          </p:nvCxnSpPr>
          <p:spPr>
            <a:xfrm>
              <a:off x="4195" y="3392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5" name="Google Shape;205;p27"/>
            <p:cNvCxnSpPr/>
            <p:nvPr/>
          </p:nvCxnSpPr>
          <p:spPr>
            <a:xfrm>
              <a:off x="2653" y="3317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06" name="Google Shape;206;p27"/>
            <p:cNvCxnSpPr/>
            <p:nvPr/>
          </p:nvCxnSpPr>
          <p:spPr>
            <a:xfrm>
              <a:off x="3334" y="3293"/>
              <a:ext cx="0" cy="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468312" y="26035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Comutação por circuito</a:t>
            </a:r>
            <a:endParaRPr/>
          </a:p>
        </p:txBody>
      </p:sp>
      <p:pic>
        <p:nvPicPr>
          <p:cNvPr descr="Computador_SmartPC_Office_E4400" id="212" name="Google Shape;212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1725" y="1557337"/>
            <a:ext cx="1498600" cy="14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SmartPC_Office_E4400" id="213" name="Google Shape;2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557337"/>
            <a:ext cx="1498600" cy="1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/>
          <p:nvPr/>
        </p:nvSpPr>
        <p:spPr>
          <a:xfrm>
            <a:off x="250825" y="3068637"/>
            <a:ext cx="18716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Computador A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7272337" y="2997200"/>
            <a:ext cx="18716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Computador B</a:t>
            </a:r>
            <a:endParaRPr/>
          </a:p>
        </p:txBody>
      </p:sp>
      <p:grpSp>
        <p:nvGrpSpPr>
          <p:cNvPr id="216" name="Google Shape;216;p28"/>
          <p:cNvGrpSpPr/>
          <p:nvPr/>
        </p:nvGrpSpPr>
        <p:grpSpPr>
          <a:xfrm>
            <a:off x="4716462" y="1844675"/>
            <a:ext cx="2447925" cy="1849437"/>
            <a:chOff x="2154" y="1570"/>
            <a:chExt cx="2012" cy="1749"/>
          </a:xfrm>
        </p:grpSpPr>
        <p:pic>
          <p:nvPicPr>
            <p:cNvPr descr="roteador" id="217" name="Google Shape;217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54" y="1570"/>
              <a:ext cx="923" cy="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teador" id="218" name="Google Shape;21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43" y="1570"/>
              <a:ext cx="923" cy="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teador" id="219" name="Google Shape;219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00" y="2523"/>
              <a:ext cx="923" cy="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roteador" id="220" name="Google Shape;22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43" y="2478"/>
              <a:ext cx="923" cy="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8"/>
            <p:cNvSpPr txBox="1"/>
            <p:nvPr/>
          </p:nvSpPr>
          <p:spPr>
            <a:xfrm>
              <a:off x="3334" y="1932"/>
              <a:ext cx="726" cy="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Roteador 4</a:t>
              </a:r>
              <a:endParaRPr/>
            </a:p>
          </p:txBody>
        </p:sp>
        <p:sp>
          <p:nvSpPr>
            <p:cNvPr id="222" name="Google Shape;222;p28"/>
            <p:cNvSpPr txBox="1"/>
            <p:nvPr/>
          </p:nvSpPr>
          <p:spPr>
            <a:xfrm>
              <a:off x="2335" y="2886"/>
              <a:ext cx="725" cy="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Roteador 3</a:t>
              </a:r>
              <a:endParaRPr/>
            </a:p>
          </p:txBody>
        </p:sp>
        <p:sp>
          <p:nvSpPr>
            <p:cNvPr id="223" name="Google Shape;223;p28"/>
            <p:cNvSpPr txBox="1"/>
            <p:nvPr/>
          </p:nvSpPr>
          <p:spPr>
            <a:xfrm>
              <a:off x="2245" y="1933"/>
              <a:ext cx="726" cy="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Roteador 2</a:t>
              </a:r>
              <a:endParaRPr/>
            </a:p>
          </p:txBody>
        </p:sp>
        <p:sp>
          <p:nvSpPr>
            <p:cNvPr id="224" name="Google Shape;224;p28"/>
            <p:cNvSpPr txBox="1"/>
            <p:nvPr/>
          </p:nvSpPr>
          <p:spPr>
            <a:xfrm>
              <a:off x="3334" y="2884"/>
              <a:ext cx="726" cy="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Roteador 5</a:t>
              </a:r>
              <a:endParaRPr/>
            </a:p>
          </p:txBody>
        </p:sp>
      </p:grpSp>
      <p:sp>
        <p:nvSpPr>
          <p:cNvPr id="225" name="Google Shape;225;p28"/>
          <p:cNvSpPr txBox="1"/>
          <p:nvPr/>
        </p:nvSpPr>
        <p:spPr>
          <a:xfrm>
            <a:off x="2268537" y="2997200"/>
            <a:ext cx="1189037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Roteador 1</a:t>
            </a:r>
            <a:endParaRPr/>
          </a:p>
        </p:txBody>
      </p:sp>
      <p:pic>
        <p:nvPicPr>
          <p:cNvPr descr="roteador" id="226" name="Google Shape;22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1050" y="2349500"/>
            <a:ext cx="1512887" cy="600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p28"/>
          <p:cNvCxnSpPr/>
          <p:nvPr/>
        </p:nvCxnSpPr>
        <p:spPr>
          <a:xfrm>
            <a:off x="1763712" y="2636837"/>
            <a:ext cx="3603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8" name="Google Shape;228;p28"/>
          <p:cNvCxnSpPr/>
          <p:nvPr/>
        </p:nvCxnSpPr>
        <p:spPr>
          <a:xfrm>
            <a:off x="3563937" y="2565400"/>
            <a:ext cx="7921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9" name="Google Shape;229;p28"/>
          <p:cNvCxnSpPr/>
          <p:nvPr/>
        </p:nvCxnSpPr>
        <p:spPr>
          <a:xfrm>
            <a:off x="3576637" y="2781300"/>
            <a:ext cx="7921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0" name="Google Shape;230;p28"/>
          <p:cNvCxnSpPr/>
          <p:nvPr/>
        </p:nvCxnSpPr>
        <p:spPr>
          <a:xfrm rot="10800000">
            <a:off x="4356100" y="2133600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1" name="Google Shape;231;p28"/>
          <p:cNvCxnSpPr/>
          <p:nvPr/>
        </p:nvCxnSpPr>
        <p:spPr>
          <a:xfrm rot="10800000">
            <a:off x="4356100" y="2789237"/>
            <a:ext cx="0" cy="288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2" name="Google Shape;232;p28"/>
          <p:cNvCxnSpPr/>
          <p:nvPr/>
        </p:nvCxnSpPr>
        <p:spPr>
          <a:xfrm>
            <a:off x="4356100" y="3068637"/>
            <a:ext cx="5032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3" name="Google Shape;233;p28"/>
          <p:cNvCxnSpPr/>
          <p:nvPr/>
        </p:nvCxnSpPr>
        <p:spPr>
          <a:xfrm>
            <a:off x="4356100" y="2133600"/>
            <a:ext cx="4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4" name="Google Shape;234;p28"/>
          <p:cNvCxnSpPr/>
          <p:nvPr/>
        </p:nvCxnSpPr>
        <p:spPr>
          <a:xfrm>
            <a:off x="5770562" y="2133600"/>
            <a:ext cx="3603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5" name="Google Shape;235;p28"/>
          <p:cNvCxnSpPr/>
          <p:nvPr/>
        </p:nvCxnSpPr>
        <p:spPr>
          <a:xfrm>
            <a:off x="5821362" y="3094037"/>
            <a:ext cx="288925" cy="22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6" name="Google Shape;236;p28"/>
          <p:cNvCxnSpPr/>
          <p:nvPr/>
        </p:nvCxnSpPr>
        <p:spPr>
          <a:xfrm>
            <a:off x="7092950" y="2133600"/>
            <a:ext cx="358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7" name="Google Shape;237;p28"/>
          <p:cNvCxnSpPr/>
          <p:nvPr/>
        </p:nvCxnSpPr>
        <p:spPr>
          <a:xfrm rot="10800000">
            <a:off x="6948487" y="2179637"/>
            <a:ext cx="0" cy="7921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8" name="Google Shape;238;p28"/>
          <p:cNvCxnSpPr/>
          <p:nvPr/>
        </p:nvCxnSpPr>
        <p:spPr>
          <a:xfrm rot="10800000">
            <a:off x="5592762" y="2205037"/>
            <a:ext cx="0" cy="7921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9" name="Google Shape;239;p28"/>
          <p:cNvCxnSpPr/>
          <p:nvPr/>
        </p:nvCxnSpPr>
        <p:spPr>
          <a:xfrm rot="10800000">
            <a:off x="5651500" y="2565400"/>
            <a:ext cx="0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0" name="Google Shape;240;p28"/>
          <p:cNvCxnSpPr/>
          <p:nvPr/>
        </p:nvCxnSpPr>
        <p:spPr>
          <a:xfrm flipH="1" rot="10800000">
            <a:off x="5651500" y="2133600"/>
            <a:ext cx="576262" cy="43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1" name="Google Shape;241;p28"/>
          <p:cNvSpPr txBox="1"/>
          <p:nvPr/>
        </p:nvSpPr>
        <p:spPr>
          <a:xfrm>
            <a:off x="684212" y="3644900"/>
            <a:ext cx="7848600" cy="346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 comutada por circuito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827087" y="4076700"/>
            <a:ext cx="7580312" cy="201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Conexão usa sempre o mesmo caminho;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Dados recebidos na mesma ordem que foram enviados;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Conexão orientada á conexão (receptor sempre confirma o recebimetno);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Conexão é determinísticas (sempre sabemos o tempo de entrega)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Comutação por pacotes</a:t>
            </a:r>
            <a:endParaRPr/>
          </a:p>
        </p:txBody>
      </p:sp>
      <p:sp>
        <p:nvSpPr>
          <p:cNvPr id="248" name="Google Shape;248;p29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Char char="⚫"/>
            </a:pPr>
            <a:r>
              <a:rPr b="0" i="0" lang="en-US" sz="26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Neste tipo de rede os dados são divididos em pacotes menores chamados de pacotes, datagramas, quadros ou células;</a:t>
            </a:r>
            <a:endParaRPr/>
          </a:p>
          <a:p>
            <a:pPr indent="-349250" lvl="0" marL="349250" marR="0" rtl="0" algn="just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Char char="⚫"/>
            </a:pPr>
            <a:r>
              <a:rPr b="0" i="0" lang="en-US" sz="26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caminho que cada pacote seguirá até o seu destino não é fixo: ele é definido por cada roteador. Que definirá o melhor caminho: mais curto ou menos congestionado!</a:t>
            </a:r>
            <a:endParaRPr/>
          </a:p>
          <a:p>
            <a:pPr indent="-349250" lvl="0" marL="349250" marR="0" rtl="0" algn="just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Char char="⚫"/>
            </a:pPr>
            <a:r>
              <a:rPr b="0" i="0" lang="en-US" sz="26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Pacotes podem trafegar por caminhos diferentes e podem chegar fora de ordem ao destino.</a:t>
            </a:r>
            <a:endParaRPr/>
          </a:p>
          <a:p>
            <a:pPr indent="-349250" lvl="0" marL="349250" marR="0" rtl="0" algn="just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Char char="⚫"/>
            </a:pPr>
            <a:r>
              <a:rPr b="0" i="0" lang="en-US" sz="26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Usada por praticamente todas as arquiteturas de rede.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4" name="Google Shape;254;p30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1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Garantia da Entrega dos Dados</a:t>
            </a:r>
            <a:endParaRPr/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Redes orientadas á conexão: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entrega de dados em três etapas, pedido – transmissão - confirmação</a:t>
            </a: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Redes não orientadas á conexão: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transmissão.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1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Previsibilidade de Funcionamento</a:t>
            </a:r>
            <a:endParaRPr/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Redes determinística: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rede funciona de maneira previsível;</a:t>
            </a:r>
            <a:endParaRPr/>
          </a:p>
          <a:p>
            <a:pPr indent="-282575" lvl="2" marL="968375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1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Redes Probabilísticas, estatística ou aleatória: 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o tempo de entrega dos dados não é conhecido.</a:t>
            </a:r>
            <a:endParaRPr b="1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34925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0" name="Google Shape;260;p31"/>
          <p:cNvSpPr txBox="1"/>
          <p:nvPr>
            <p:ph idx="1" type="body"/>
          </p:nvPr>
        </p:nvSpPr>
        <p:spPr>
          <a:xfrm>
            <a:off x="395287" y="1412875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Topologia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totalmente conectada: cada computador possui uma conexão individual para cada outro computador.</a:t>
            </a:r>
            <a:endParaRPr/>
          </a:p>
        </p:txBody>
      </p:sp>
      <p:cxnSp>
        <p:nvCxnSpPr>
          <p:cNvPr id="261" name="Google Shape;261;p31"/>
          <p:cNvCxnSpPr/>
          <p:nvPr/>
        </p:nvCxnSpPr>
        <p:spPr>
          <a:xfrm rot="10800000">
            <a:off x="3348037" y="4076700"/>
            <a:ext cx="0" cy="576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2" name="Google Shape;262;p31"/>
          <p:cNvCxnSpPr/>
          <p:nvPr/>
        </p:nvCxnSpPr>
        <p:spPr>
          <a:xfrm rot="10800000">
            <a:off x="5651500" y="4221162"/>
            <a:ext cx="0" cy="360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3" name="Google Shape;263;p31"/>
          <p:cNvCxnSpPr/>
          <p:nvPr/>
        </p:nvCxnSpPr>
        <p:spPr>
          <a:xfrm flipH="1">
            <a:off x="4427537" y="3500437"/>
            <a:ext cx="73025" cy="20161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4" name="Google Shape;264;p31"/>
          <p:cNvCxnSpPr/>
          <p:nvPr/>
        </p:nvCxnSpPr>
        <p:spPr>
          <a:xfrm flipH="1" rot="10800000">
            <a:off x="3851275" y="3716337"/>
            <a:ext cx="1296987" cy="73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65" name="Google Shape;265;p31"/>
          <p:cNvCxnSpPr/>
          <p:nvPr/>
        </p:nvCxnSpPr>
        <p:spPr>
          <a:xfrm>
            <a:off x="3635375" y="4005262"/>
            <a:ext cx="720725" cy="151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266" name="Google Shape;266;p31"/>
          <p:cNvGrpSpPr/>
          <p:nvPr/>
        </p:nvGrpSpPr>
        <p:grpSpPr>
          <a:xfrm>
            <a:off x="2916237" y="2865437"/>
            <a:ext cx="3206750" cy="3370262"/>
            <a:chOff x="1837" y="1805"/>
            <a:chExt cx="2020" cy="2123"/>
          </a:xfrm>
        </p:grpSpPr>
        <p:pic>
          <p:nvPicPr>
            <p:cNvPr descr="computador_HP_Qu_4aec3eb1b3228" id="267" name="Google Shape;267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7" y="180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68" name="Google Shape;268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7" y="2168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69" name="Google Shape;26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3" y="2213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70" name="Google Shape;270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82" y="2931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71" name="Google Shape;271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98" y="2894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72" name="Google Shape;27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2" y="347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3" name="Google Shape;273;p31"/>
            <p:cNvCxnSpPr/>
            <p:nvPr/>
          </p:nvCxnSpPr>
          <p:spPr>
            <a:xfrm flipH="1" rot="10800000">
              <a:off x="2154" y="1987"/>
              <a:ext cx="363" cy="1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4" name="Google Shape;274;p31"/>
            <p:cNvCxnSpPr/>
            <p:nvPr/>
          </p:nvCxnSpPr>
          <p:spPr>
            <a:xfrm rot="10800000">
              <a:off x="2154" y="3385"/>
              <a:ext cx="318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5" name="Google Shape;275;p31"/>
            <p:cNvCxnSpPr/>
            <p:nvPr/>
          </p:nvCxnSpPr>
          <p:spPr>
            <a:xfrm flipH="1" rot="10800000">
              <a:off x="3061" y="3347"/>
              <a:ext cx="409" cy="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6" name="Google Shape;276;p31"/>
            <p:cNvCxnSpPr/>
            <p:nvPr/>
          </p:nvCxnSpPr>
          <p:spPr>
            <a:xfrm rot="10800000">
              <a:off x="3107" y="1987"/>
              <a:ext cx="363" cy="2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7" name="Google Shape;277;p31"/>
            <p:cNvCxnSpPr/>
            <p:nvPr/>
          </p:nvCxnSpPr>
          <p:spPr>
            <a:xfrm flipH="1" rot="10800000">
              <a:off x="2472" y="2213"/>
              <a:ext cx="272" cy="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8" name="Google Shape;278;p31"/>
            <p:cNvCxnSpPr/>
            <p:nvPr/>
          </p:nvCxnSpPr>
          <p:spPr>
            <a:xfrm>
              <a:off x="2925" y="2213"/>
              <a:ext cx="363" cy="6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9" name="Google Shape;279;p31"/>
            <p:cNvCxnSpPr/>
            <p:nvPr/>
          </p:nvCxnSpPr>
          <p:spPr>
            <a:xfrm>
              <a:off x="2381" y="2531"/>
              <a:ext cx="817" cy="4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0" name="Google Shape;280;p31"/>
            <p:cNvCxnSpPr/>
            <p:nvPr/>
          </p:nvCxnSpPr>
          <p:spPr>
            <a:xfrm flipH="1">
              <a:off x="2426" y="3121"/>
              <a:ext cx="817" cy="9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1" name="Google Shape;281;p31"/>
            <p:cNvCxnSpPr/>
            <p:nvPr/>
          </p:nvCxnSpPr>
          <p:spPr>
            <a:xfrm flipH="1">
              <a:off x="2472" y="2523"/>
              <a:ext cx="771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2" name="Google Shape;282;p31"/>
            <p:cNvCxnSpPr/>
            <p:nvPr/>
          </p:nvCxnSpPr>
          <p:spPr>
            <a:xfrm flipH="1" rot="10800000">
              <a:off x="2971" y="2576"/>
              <a:ext cx="363" cy="9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em malha: os computadores são menos conectados do que na topologia totalmente conectada.</a:t>
            </a:r>
            <a:endParaRPr/>
          </a:p>
        </p:txBody>
      </p:sp>
      <p:grpSp>
        <p:nvGrpSpPr>
          <p:cNvPr id="289" name="Google Shape;289;p32"/>
          <p:cNvGrpSpPr/>
          <p:nvPr/>
        </p:nvGrpSpPr>
        <p:grpSpPr>
          <a:xfrm>
            <a:off x="2987675" y="2565400"/>
            <a:ext cx="3206750" cy="3344862"/>
            <a:chOff x="1837" y="1821"/>
            <a:chExt cx="2020" cy="2107"/>
          </a:xfrm>
        </p:grpSpPr>
        <p:pic>
          <p:nvPicPr>
            <p:cNvPr descr="computador_HP_Qu_4aec3eb1b3228" id="290" name="Google Shape;29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17" y="1821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91" name="Google Shape;29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7" y="2184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92" name="Google Shape;292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3" y="2229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93" name="Google Shape;293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82" y="2947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94" name="Google Shape;29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98" y="2910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295" name="Google Shape;295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2" y="347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6" name="Google Shape;296;p32"/>
            <p:cNvCxnSpPr/>
            <p:nvPr/>
          </p:nvCxnSpPr>
          <p:spPr>
            <a:xfrm flipH="1" rot="10800000">
              <a:off x="2154" y="2003"/>
              <a:ext cx="363" cy="1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7" name="Google Shape;297;p32"/>
            <p:cNvCxnSpPr/>
            <p:nvPr/>
          </p:nvCxnSpPr>
          <p:spPr>
            <a:xfrm rot="10800000">
              <a:off x="2154" y="3393"/>
              <a:ext cx="318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8" name="Google Shape;298;p32"/>
            <p:cNvCxnSpPr/>
            <p:nvPr/>
          </p:nvCxnSpPr>
          <p:spPr>
            <a:xfrm rot="10800000">
              <a:off x="3107" y="2003"/>
              <a:ext cx="363" cy="2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9" name="Google Shape;299;p32"/>
            <p:cNvCxnSpPr/>
            <p:nvPr/>
          </p:nvCxnSpPr>
          <p:spPr>
            <a:xfrm flipH="1" rot="10800000">
              <a:off x="2472" y="2229"/>
              <a:ext cx="272" cy="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0" name="Google Shape;300;p32"/>
            <p:cNvCxnSpPr/>
            <p:nvPr/>
          </p:nvCxnSpPr>
          <p:spPr>
            <a:xfrm>
              <a:off x="2925" y="2229"/>
              <a:ext cx="363" cy="6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1" name="Google Shape;301;p32"/>
            <p:cNvCxnSpPr/>
            <p:nvPr/>
          </p:nvCxnSpPr>
          <p:spPr>
            <a:xfrm>
              <a:off x="2381" y="2547"/>
              <a:ext cx="817" cy="4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2" name="Google Shape;302;p32"/>
            <p:cNvCxnSpPr/>
            <p:nvPr/>
          </p:nvCxnSpPr>
          <p:spPr>
            <a:xfrm flipH="1" rot="10800000">
              <a:off x="2971" y="2592"/>
              <a:ext cx="363" cy="95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3" name="Google Shape;303;p32"/>
            <p:cNvCxnSpPr/>
            <p:nvPr/>
          </p:nvCxnSpPr>
          <p:spPr>
            <a:xfrm rot="10800000">
              <a:off x="3515" y="2683"/>
              <a:ext cx="0" cy="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4" name="Google Shape;304;p32"/>
            <p:cNvCxnSpPr/>
            <p:nvPr/>
          </p:nvCxnSpPr>
          <p:spPr>
            <a:xfrm flipH="1" rot="10800000">
              <a:off x="2699" y="2229"/>
              <a:ext cx="136" cy="12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0" name="Google Shape;310;p33"/>
          <p:cNvSpPr txBox="1"/>
          <p:nvPr>
            <p:ph idx="1" type="body"/>
          </p:nvPr>
        </p:nvSpPr>
        <p:spPr>
          <a:xfrm>
            <a:off x="457200" y="1600200"/>
            <a:ext cx="8229600" cy="1468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em anel: cada computador possui dois cabos, um conectado ao computador anterior da rede e outro conectado ao próximo computador da rede.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2916237" y="3284537"/>
            <a:ext cx="4103687" cy="25209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utador_HP_Qu_4aec3eb1b3228" id="312" name="Google Shape;3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100" y="2781300"/>
            <a:ext cx="97472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13" name="Google Shape;3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412" y="4292600"/>
            <a:ext cx="97472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14" name="Google Shape;3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2225" y="4292600"/>
            <a:ext cx="974725" cy="719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15" name="Google Shape;3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537" y="5373687"/>
            <a:ext cx="974725" cy="71913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/>
          <p:nvPr/>
        </p:nvSpPr>
        <p:spPr>
          <a:xfrm>
            <a:off x="3995737" y="3860800"/>
            <a:ext cx="1728787" cy="115252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4643437" y="4797425"/>
            <a:ext cx="504825" cy="4318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140200" y="4508500"/>
            <a:ext cx="15843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Ficha (token)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4" name="Google Shape;324;p34"/>
          <p:cNvSpPr txBox="1"/>
          <p:nvPr>
            <p:ph idx="1" type="body"/>
          </p:nvPr>
        </p:nvSpPr>
        <p:spPr>
          <a:xfrm>
            <a:off x="457200" y="1600200"/>
            <a:ext cx="822960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linear: também chamada de barramento, nela há um elemento central ao qual todos os computadores são conectados.</a:t>
            </a:r>
            <a:endParaRPr/>
          </a:p>
        </p:txBody>
      </p:sp>
      <p:grpSp>
        <p:nvGrpSpPr>
          <p:cNvPr id="325" name="Google Shape;325;p34"/>
          <p:cNvGrpSpPr/>
          <p:nvPr/>
        </p:nvGrpSpPr>
        <p:grpSpPr>
          <a:xfrm>
            <a:off x="1116012" y="3021012"/>
            <a:ext cx="7056437" cy="1416050"/>
            <a:chOff x="703" y="1903"/>
            <a:chExt cx="4445" cy="892"/>
          </a:xfrm>
        </p:grpSpPr>
        <p:pic>
          <p:nvPicPr>
            <p:cNvPr descr="computador_HP_Qu_4aec3eb1b3228" id="326" name="Google Shape;326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2" y="1919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27" name="Google Shape;327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79" y="1914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28" name="Google Shape;32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41" y="193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29" name="Google Shape;32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9" y="1911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30" name="Google Shape;330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3" y="1903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1" name="Google Shape;331;p34"/>
            <p:cNvCxnSpPr/>
            <p:nvPr/>
          </p:nvCxnSpPr>
          <p:spPr>
            <a:xfrm>
              <a:off x="703" y="2795"/>
              <a:ext cx="4445" cy="0"/>
            </a:xfrm>
            <a:prstGeom prst="straightConnector1">
              <a:avLst/>
            </a:prstGeom>
            <a:noFill/>
            <a:ln cap="flat" cmpd="sng" w="57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2" name="Google Shape;332;p34"/>
            <p:cNvCxnSpPr/>
            <p:nvPr/>
          </p:nvCxnSpPr>
          <p:spPr>
            <a:xfrm>
              <a:off x="1066" y="2357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3" name="Google Shape;333;p34"/>
            <p:cNvCxnSpPr/>
            <p:nvPr/>
          </p:nvCxnSpPr>
          <p:spPr>
            <a:xfrm>
              <a:off x="1791" y="2365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4" name="Google Shape;334;p34"/>
            <p:cNvCxnSpPr/>
            <p:nvPr/>
          </p:nvCxnSpPr>
          <p:spPr>
            <a:xfrm>
              <a:off x="2744" y="2365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5" name="Google Shape;335;p34"/>
            <p:cNvCxnSpPr/>
            <p:nvPr/>
          </p:nvCxnSpPr>
          <p:spPr>
            <a:xfrm>
              <a:off x="3696" y="2368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36" name="Google Shape;336;p34"/>
            <p:cNvCxnSpPr/>
            <p:nvPr/>
          </p:nvCxnSpPr>
          <p:spPr>
            <a:xfrm>
              <a:off x="4558" y="2368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5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2" name="Google Shape;342;p35"/>
          <p:cNvSpPr txBox="1"/>
          <p:nvPr>
            <p:ph idx="1" type="body"/>
          </p:nvPr>
        </p:nvSpPr>
        <p:spPr>
          <a:xfrm>
            <a:off x="457200" y="1600200"/>
            <a:ext cx="8229600" cy="103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em estrela: os computadores são conectados a um periférico concentrador, facilitando a manutenção.</a:t>
            </a:r>
            <a:endParaRPr/>
          </a:p>
        </p:txBody>
      </p:sp>
      <p:grpSp>
        <p:nvGrpSpPr>
          <p:cNvPr id="343" name="Google Shape;343;p35"/>
          <p:cNvGrpSpPr/>
          <p:nvPr/>
        </p:nvGrpSpPr>
        <p:grpSpPr>
          <a:xfrm>
            <a:off x="2051050" y="2579687"/>
            <a:ext cx="3927475" cy="3368675"/>
            <a:chOff x="1292" y="1625"/>
            <a:chExt cx="2474" cy="2122"/>
          </a:xfrm>
        </p:grpSpPr>
        <p:pic>
          <p:nvPicPr>
            <p:cNvPr descr="roteador" id="344" name="Google Shape;344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9" y="2387"/>
              <a:ext cx="846" cy="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45" name="Google Shape;345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92" y="1897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46" name="Google Shape;34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52" y="1806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47" name="Google Shape;347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29" y="2840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48" name="Google Shape;348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61" y="279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49" name="Google Shape;349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45" y="3294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mputador_HP_Qu_4aec3eb1b3228" id="350" name="Google Shape;350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00" y="1625"/>
              <a:ext cx="614" cy="4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5"/>
            <p:cNvCxnSpPr/>
            <p:nvPr/>
          </p:nvCxnSpPr>
          <p:spPr>
            <a:xfrm rot="10800000">
              <a:off x="1927" y="2296"/>
              <a:ext cx="363" cy="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2" name="Google Shape;352;p35"/>
            <p:cNvCxnSpPr/>
            <p:nvPr/>
          </p:nvCxnSpPr>
          <p:spPr>
            <a:xfrm>
              <a:off x="2517" y="2115"/>
              <a:ext cx="0" cy="4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3" name="Google Shape;353;p35"/>
            <p:cNvCxnSpPr/>
            <p:nvPr/>
          </p:nvCxnSpPr>
          <p:spPr>
            <a:xfrm rot="10800000">
              <a:off x="2562" y="2659"/>
              <a:ext cx="0" cy="6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4" name="Google Shape;354;p35"/>
            <p:cNvCxnSpPr/>
            <p:nvPr/>
          </p:nvCxnSpPr>
          <p:spPr>
            <a:xfrm flipH="1" rot="10800000">
              <a:off x="2064" y="2659"/>
              <a:ext cx="226" cy="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5" name="Google Shape;355;p35"/>
            <p:cNvCxnSpPr/>
            <p:nvPr/>
          </p:nvCxnSpPr>
          <p:spPr>
            <a:xfrm flipH="1" rot="10800000">
              <a:off x="2699" y="2205"/>
              <a:ext cx="499" cy="3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6" name="Google Shape;356;p35"/>
            <p:cNvCxnSpPr/>
            <p:nvPr/>
          </p:nvCxnSpPr>
          <p:spPr>
            <a:xfrm>
              <a:off x="2835" y="2659"/>
              <a:ext cx="226" cy="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2" name="Google Shape;362;p36"/>
          <p:cNvSpPr txBox="1"/>
          <p:nvPr>
            <p:ph idx="1" type="body"/>
          </p:nvPr>
        </p:nvSpPr>
        <p:spPr>
          <a:xfrm>
            <a:off x="457200" y="1600200"/>
            <a:ext cx="785971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em árvore: também chamada estrela hierárquica, esta topologia é feita ligando-se redes em estrela juntas.</a:t>
            </a:r>
            <a:endParaRPr/>
          </a:p>
        </p:txBody>
      </p:sp>
      <p:pic>
        <p:nvPicPr>
          <p:cNvPr descr="roteador" id="363" name="Google Shape;36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975" y="3576637"/>
            <a:ext cx="442912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64" name="Google Shape;3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3350" y="3111500"/>
            <a:ext cx="322262" cy="43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65" name="Google Shape;36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8075" y="3024187"/>
            <a:ext cx="322262" cy="43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66" name="Google Shape;36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4787" y="4006850"/>
            <a:ext cx="322262" cy="43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67" name="Google Shape;36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3412" y="4438650"/>
            <a:ext cx="320675" cy="430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68" name="Google Shape;36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9600" y="2852737"/>
            <a:ext cx="322262" cy="4302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9" name="Google Shape;369;p36"/>
          <p:cNvCxnSpPr/>
          <p:nvPr/>
        </p:nvCxnSpPr>
        <p:spPr>
          <a:xfrm rot="10800000">
            <a:off x="1736725" y="3490912"/>
            <a:ext cx="190500" cy="214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0" name="Google Shape;370;p36"/>
          <p:cNvCxnSpPr/>
          <p:nvPr/>
        </p:nvCxnSpPr>
        <p:spPr>
          <a:xfrm>
            <a:off x="2046287" y="3317875"/>
            <a:ext cx="0" cy="387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1" name="Google Shape;371;p36"/>
          <p:cNvCxnSpPr/>
          <p:nvPr/>
        </p:nvCxnSpPr>
        <p:spPr>
          <a:xfrm rot="10800000">
            <a:off x="2068512" y="3835400"/>
            <a:ext cx="0" cy="603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2" name="Google Shape;372;p36"/>
          <p:cNvCxnSpPr/>
          <p:nvPr/>
        </p:nvCxnSpPr>
        <p:spPr>
          <a:xfrm flipH="1" rot="10800000">
            <a:off x="1808162" y="3835400"/>
            <a:ext cx="119062" cy="3444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3" name="Google Shape;373;p36"/>
          <p:cNvCxnSpPr/>
          <p:nvPr/>
        </p:nvCxnSpPr>
        <p:spPr>
          <a:xfrm flipH="1" rot="10800000">
            <a:off x="2141537" y="3403600"/>
            <a:ext cx="260350" cy="3016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roteador" id="374" name="Google Shape;37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50" y="4532312"/>
            <a:ext cx="590550" cy="401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75" name="Google Shape;375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9837" y="410051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76" name="Google Shape;37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75087" y="493236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77" name="Google Shape;37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4912" y="4892675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78" name="Google Shape;37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5000" y="533241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79" name="Google Shape;37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3250" y="3860800"/>
            <a:ext cx="428625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0" name="Google Shape;380;p36"/>
          <p:cNvCxnSpPr/>
          <p:nvPr/>
        </p:nvCxnSpPr>
        <p:spPr>
          <a:xfrm rot="10800000">
            <a:off x="4222750" y="4452937"/>
            <a:ext cx="25400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1" name="Google Shape;381;p36"/>
          <p:cNvCxnSpPr/>
          <p:nvPr/>
        </p:nvCxnSpPr>
        <p:spPr>
          <a:xfrm>
            <a:off x="4635500" y="4292600"/>
            <a:ext cx="0" cy="360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2" name="Google Shape;382;p36"/>
          <p:cNvCxnSpPr/>
          <p:nvPr/>
        </p:nvCxnSpPr>
        <p:spPr>
          <a:xfrm rot="10800000">
            <a:off x="4667250" y="4772025"/>
            <a:ext cx="0" cy="560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3" name="Google Shape;383;p36"/>
          <p:cNvCxnSpPr/>
          <p:nvPr/>
        </p:nvCxnSpPr>
        <p:spPr>
          <a:xfrm flipH="1" rot="10800000">
            <a:off x="4319587" y="4772025"/>
            <a:ext cx="157162" cy="320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4" name="Google Shape;384;p36"/>
          <p:cNvCxnSpPr/>
          <p:nvPr/>
        </p:nvCxnSpPr>
        <p:spPr>
          <a:xfrm>
            <a:off x="4857750" y="4772025"/>
            <a:ext cx="157162" cy="2016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roteador" id="385" name="Google Shape;38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6237" y="3308350"/>
            <a:ext cx="590550" cy="401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86" name="Google Shape;38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6325" y="2876550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87" name="Google Shape;38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4900" y="2797175"/>
            <a:ext cx="428625" cy="398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88" name="Google Shape;388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91400" y="366871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89" name="Google Shape;389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1487" y="4108450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390" name="Google Shape;39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9737" y="2636837"/>
            <a:ext cx="428625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6"/>
          <p:cNvCxnSpPr/>
          <p:nvPr/>
        </p:nvCxnSpPr>
        <p:spPr>
          <a:xfrm rot="10800000">
            <a:off x="6599237" y="3228975"/>
            <a:ext cx="25400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2" name="Google Shape;392;p36"/>
          <p:cNvCxnSpPr/>
          <p:nvPr/>
        </p:nvCxnSpPr>
        <p:spPr>
          <a:xfrm>
            <a:off x="7011987" y="3068637"/>
            <a:ext cx="0" cy="360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/>
          <p:nvPr/>
        </p:nvCxnSpPr>
        <p:spPr>
          <a:xfrm rot="10800000">
            <a:off x="7043737" y="3548062"/>
            <a:ext cx="0" cy="560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4" name="Google Shape;394;p36"/>
          <p:cNvCxnSpPr/>
          <p:nvPr/>
        </p:nvCxnSpPr>
        <p:spPr>
          <a:xfrm flipH="1" rot="10800000">
            <a:off x="7138987" y="3148012"/>
            <a:ext cx="347662" cy="2809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5" name="Google Shape;395;p36"/>
          <p:cNvCxnSpPr/>
          <p:nvPr/>
        </p:nvCxnSpPr>
        <p:spPr>
          <a:xfrm>
            <a:off x="7234237" y="3548062"/>
            <a:ext cx="157162" cy="2016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6" name="Google Shape;396;p36"/>
          <p:cNvCxnSpPr/>
          <p:nvPr/>
        </p:nvCxnSpPr>
        <p:spPr>
          <a:xfrm>
            <a:off x="2195512" y="3860800"/>
            <a:ext cx="2232025" cy="8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7" name="Google Shape;397;p36"/>
          <p:cNvCxnSpPr/>
          <p:nvPr/>
        </p:nvCxnSpPr>
        <p:spPr>
          <a:xfrm flipH="1" rot="10800000">
            <a:off x="4859337" y="3573462"/>
            <a:ext cx="2017712" cy="11509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457200" y="1600200"/>
            <a:ext cx="8147050" cy="125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Topologia sem fio: sem presença de fios, é necessário um equipamento chamado ponto de acesso (WAP - </a:t>
            </a:r>
            <a:r>
              <a:rPr b="0" i="1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wireless access point</a:t>
            </a: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descr="roteador" id="404" name="Google Shape;4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925" y="3668712"/>
            <a:ext cx="590550" cy="401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405" name="Google Shape;4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012" y="323691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406" name="Google Shape;40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4587" y="3157537"/>
            <a:ext cx="428625" cy="398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262" y="406876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408" name="Google Shape;40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1175" y="4468812"/>
            <a:ext cx="4286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utador_HP_Qu_4aec3eb1b3228" id="409" name="Google Shape;40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9425" y="2997200"/>
            <a:ext cx="428625" cy="400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37"/>
          <p:cNvCxnSpPr/>
          <p:nvPr/>
        </p:nvCxnSpPr>
        <p:spPr>
          <a:xfrm rot="10800000">
            <a:off x="1558925" y="3589337"/>
            <a:ext cx="254000" cy="200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1" name="Google Shape;411;p37"/>
          <p:cNvCxnSpPr/>
          <p:nvPr/>
        </p:nvCxnSpPr>
        <p:spPr>
          <a:xfrm>
            <a:off x="1971675" y="3429000"/>
            <a:ext cx="0" cy="3603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2" name="Google Shape;412;p37"/>
          <p:cNvCxnSpPr/>
          <p:nvPr/>
        </p:nvCxnSpPr>
        <p:spPr>
          <a:xfrm rot="10800000">
            <a:off x="2003425" y="3908425"/>
            <a:ext cx="0" cy="5603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3" name="Google Shape;413;p37"/>
          <p:cNvCxnSpPr/>
          <p:nvPr/>
        </p:nvCxnSpPr>
        <p:spPr>
          <a:xfrm flipH="1" rot="10800000">
            <a:off x="1655762" y="3908425"/>
            <a:ext cx="157162" cy="320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4" name="Google Shape;414;p37"/>
          <p:cNvCxnSpPr/>
          <p:nvPr/>
        </p:nvCxnSpPr>
        <p:spPr>
          <a:xfrm flipH="1" rot="10800000">
            <a:off x="2098675" y="3508375"/>
            <a:ext cx="347662" cy="2809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roteador-wireless" id="415" name="Google Shape;41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3937" y="3429000"/>
            <a:ext cx="798512" cy="7191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37"/>
          <p:cNvCxnSpPr/>
          <p:nvPr/>
        </p:nvCxnSpPr>
        <p:spPr>
          <a:xfrm>
            <a:off x="2268537" y="3860800"/>
            <a:ext cx="129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descr="notebook" id="417" name="Google Shape;41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6325" y="2565400"/>
            <a:ext cx="889000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tebook" id="418" name="Google Shape;41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0787" y="3500437"/>
            <a:ext cx="889000" cy="72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tebook" id="419" name="Google Shape;41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0787" y="4652962"/>
            <a:ext cx="889000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/>
          <p:nvPr/>
        </p:nvSpPr>
        <p:spPr>
          <a:xfrm>
            <a:off x="4356100" y="3284537"/>
            <a:ext cx="287337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4572000" y="3149600"/>
            <a:ext cx="287337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4716462" y="2997200"/>
            <a:ext cx="287337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7"/>
          <p:cNvSpPr/>
          <p:nvPr/>
        </p:nvSpPr>
        <p:spPr>
          <a:xfrm rot="10800000">
            <a:off x="5724525" y="2924175"/>
            <a:ext cx="287337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7"/>
          <p:cNvSpPr/>
          <p:nvPr/>
        </p:nvSpPr>
        <p:spPr>
          <a:xfrm rot="10800000">
            <a:off x="5580062" y="2997200"/>
            <a:ext cx="287337" cy="4318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5" name="Google Shape;425;p37"/>
          <p:cNvGrpSpPr/>
          <p:nvPr/>
        </p:nvGrpSpPr>
        <p:grpSpPr>
          <a:xfrm>
            <a:off x="5580062" y="3789362"/>
            <a:ext cx="647700" cy="469900"/>
            <a:chOff x="3515" y="1842"/>
            <a:chExt cx="408" cy="296"/>
          </a:xfrm>
        </p:grpSpPr>
        <p:sp>
          <p:nvSpPr>
            <p:cNvPr id="426" name="Google Shape;426;p37"/>
            <p:cNvSpPr/>
            <p:nvPr/>
          </p:nvSpPr>
          <p:spPr>
            <a:xfrm rot="10800000">
              <a:off x="3742" y="1842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7"/>
            <p:cNvSpPr/>
            <p:nvPr/>
          </p:nvSpPr>
          <p:spPr>
            <a:xfrm rot="10800000">
              <a:off x="3606" y="1842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 rot="10800000">
              <a:off x="3515" y="1866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37"/>
          <p:cNvGrpSpPr/>
          <p:nvPr/>
        </p:nvGrpSpPr>
        <p:grpSpPr>
          <a:xfrm>
            <a:off x="5435600" y="4797425"/>
            <a:ext cx="647700" cy="469900"/>
            <a:chOff x="3515" y="1842"/>
            <a:chExt cx="408" cy="296"/>
          </a:xfrm>
        </p:grpSpPr>
        <p:sp>
          <p:nvSpPr>
            <p:cNvPr id="430" name="Google Shape;430;p37"/>
            <p:cNvSpPr/>
            <p:nvPr/>
          </p:nvSpPr>
          <p:spPr>
            <a:xfrm rot="10800000">
              <a:off x="3742" y="1842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7"/>
            <p:cNvSpPr/>
            <p:nvPr/>
          </p:nvSpPr>
          <p:spPr>
            <a:xfrm rot="10800000">
              <a:off x="3606" y="1842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7"/>
            <p:cNvSpPr/>
            <p:nvPr/>
          </p:nvSpPr>
          <p:spPr>
            <a:xfrm rot="10800000">
              <a:off x="3515" y="1866"/>
              <a:ext cx="181" cy="27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8" name="Google Shape;438;p38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200"/>
              <a:buFont typeface="Noto Sans Symbols"/>
              <a:buChar char="⚫"/>
            </a:pPr>
            <a:r>
              <a:rPr b="0" i="0" lang="en-US" sz="20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ao método de transmissão:  existem três métodos básicos para se ter acesso ao meio de transmissão: contenção, passagem de ficha (token passing) e varredura (polling).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200"/>
              <a:buFont typeface="Noto Sans Symbols"/>
              <a:buChar char="⚫"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Contenção: usa um algoritmo probabilístico, isto é, não é possível saber de antemão quanto a estação terá acesso ao meio.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200"/>
              <a:buFont typeface="Noto Sans Symbols"/>
              <a:buChar char="⚫"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Passagem de ficha: usa um algoritmo determinístico, sabe-se de antemão quando as estações terão acesso ao meio físico.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200"/>
              <a:buFont typeface="Noto Sans Symbols"/>
              <a:buChar char="⚫"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Varredura: usa uma lista de computadores que querem ter acesso ao cabeamento, e cada computador espera sua vez de transmistir.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5" name="Google Shape;445;p39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Arquitetura: Ethernet,  Token Ring, FDDI, X.25, Frame Relay e ATM.</a:t>
            </a:r>
            <a:endParaRPr/>
          </a:p>
          <a:p>
            <a:pPr indent="-349250" lvl="0" marL="349250" marR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Quanto à pilha de Protocolos: TCP/IP, IPX/SPX, NetBEUI, AppleTalk, etc.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0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COMPONENTES DE UMA REDE</a:t>
            </a:r>
            <a:endParaRPr/>
          </a:p>
        </p:txBody>
      </p:sp>
      <p:grpSp>
        <p:nvGrpSpPr>
          <p:cNvPr id="451" name="Google Shape;451;p40"/>
          <p:cNvGrpSpPr/>
          <p:nvPr/>
        </p:nvGrpSpPr>
        <p:grpSpPr>
          <a:xfrm>
            <a:off x="1692275" y="1412875"/>
            <a:ext cx="6083300" cy="4308475"/>
            <a:chOff x="793" y="527"/>
            <a:chExt cx="4105" cy="3223"/>
          </a:xfrm>
        </p:grpSpPr>
        <p:pic>
          <p:nvPicPr>
            <p:cNvPr descr="COMPONENTES" id="452" name="Google Shape;45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3" y="527"/>
              <a:ext cx="4105" cy="3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40"/>
            <p:cNvSpPr txBox="1"/>
            <p:nvPr/>
          </p:nvSpPr>
          <p:spPr>
            <a:xfrm>
              <a:off x="793" y="3339"/>
              <a:ext cx="4083" cy="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Figura 3: Componentes de uma rede de computadores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Fonte: TORRES (2001)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 txBox="1"/>
          <p:nvPr>
            <p:ph idx="1" type="body"/>
          </p:nvPr>
        </p:nvSpPr>
        <p:spPr>
          <a:xfrm>
            <a:off x="457200" y="620712"/>
            <a:ext cx="8507412" cy="5505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Servidor : é o equipamento capaz de oferecer recursos para rede;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Placas-mães multiprocessadas;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Memória ECC</a:t>
            </a:r>
            <a:r>
              <a:rPr b="0" i="1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(error correction code, </a:t>
            </a: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código de correção de erros</a:t>
            </a:r>
            <a:r>
              <a:rPr b="0" i="1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Discos rígidos de alto desempenho SCSI, altas taxas de transferências, RAID </a:t>
            </a:r>
            <a:r>
              <a:rPr b="0" i="1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(redundant array of independent disks),</a:t>
            </a: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Hot swap </a:t>
            </a: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(troca de disco com a máquina ligada) e quantidade de dispositivos;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Placas de redes: hotplug (troca de placa de rede com o micro ligado);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Gabinetes;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Fontes de alimentação redundantes;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420"/>
              <a:buFont typeface="Noto Sans Symbols"/>
              <a:buChar char="⚫"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No-break (UPS-</a:t>
            </a:r>
            <a:r>
              <a:rPr b="0" i="1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uninterruptible power supply)</a:t>
            </a:r>
            <a:endParaRPr b="0" i="0" sz="2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Cliente ou estação (</a:t>
            </a:r>
            <a:r>
              <a:rPr b="0" i="1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workstation</a:t>
            </a: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): é um micro ou dispositivo que acessa os recursos oferecidos pela rede.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2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6" name="Google Shape;466;p42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Recurso: qualquer informação ou equipamento que possa ser oferecida e usada pelos clientes da rede como impressoras, arquivos, unidade de armazenamento, acesso a Internet, etc.</a:t>
            </a:r>
            <a:endParaRPr/>
          </a:p>
          <a:p>
            <a:pPr indent="-349250" lvl="0" marL="349250" marR="0" rtl="0" algn="just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Protocolo: para que todos os dispositivos da rede possam se entender, independente do programa usado ou do fabricante dos componentes, eles precisam conversar usando uma mesma linguagem, genericamente chamada de protocolo</a:t>
            </a:r>
            <a:endParaRPr/>
          </a:p>
          <a:p>
            <a:pPr indent="-349250" lvl="0" marL="349250" marR="0" rtl="0" algn="just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Cabeamento: os cabos da rede transmitem os dados que serão trocados entre os diversos dispositivos que compõem uma rede.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 txBox="1"/>
          <p:nvPr>
            <p:ph idx="1" type="body"/>
          </p:nvPr>
        </p:nvSpPr>
        <p:spPr>
          <a:xfrm>
            <a:off x="539750" y="2060575"/>
            <a:ext cx="8147050" cy="4065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Placa de rede: também chamada de interface de rede ou NIC </a:t>
            </a:r>
            <a:r>
              <a:rPr b="0" i="1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(network interface card), </a:t>
            </a: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permite que os PCs consigam ser conectados em uma rede, visto que seu sistema de comunicação é diferente ao de uma rede.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Hardware de rede ou equipamento de conectividade: periférico usado para efetuar ou melhorar a comunicação de uma rede, ou ainda protege-la.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Transmissão de Dados – Controle de diálogo</a:t>
            </a:r>
            <a:endParaRPr/>
          </a:p>
        </p:txBody>
      </p:sp>
      <p:sp>
        <p:nvSpPr>
          <p:cNvPr id="477" name="Google Shape;477;p44"/>
          <p:cNvSpPr txBox="1"/>
          <p:nvPr>
            <p:ph idx="1" type="body"/>
          </p:nvPr>
        </p:nvSpPr>
        <p:spPr>
          <a:xfrm>
            <a:off x="685800" y="1981200"/>
            <a:ext cx="8134350" cy="3103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Eletronicamente existem três tipos de transmissão de dados: Simplex, half-duplex e full-duplex;</a:t>
            </a:r>
            <a:endParaRPr/>
          </a:p>
          <a:p>
            <a:pPr indent="-336550" lvl="1" marL="68580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Simplex: um dispositivo é o transmissor (Tx) e o outro é o receptor (Rx), sem inversão de papeis. A transmissão de dados é sempre unidirecional</a:t>
            </a:r>
            <a:endParaRPr/>
          </a:p>
        </p:txBody>
      </p:sp>
      <p:grpSp>
        <p:nvGrpSpPr>
          <p:cNvPr id="478" name="Google Shape;478;p44"/>
          <p:cNvGrpSpPr/>
          <p:nvPr/>
        </p:nvGrpSpPr>
        <p:grpSpPr>
          <a:xfrm>
            <a:off x="1979612" y="4365625"/>
            <a:ext cx="5472112" cy="1016000"/>
            <a:chOff x="930" y="3339"/>
            <a:chExt cx="3447" cy="640"/>
          </a:xfrm>
        </p:grpSpPr>
        <p:sp>
          <p:nvSpPr>
            <p:cNvPr id="479" name="Google Shape;479;p44"/>
            <p:cNvSpPr txBox="1"/>
            <p:nvPr/>
          </p:nvSpPr>
          <p:spPr>
            <a:xfrm>
              <a:off x="930" y="3339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Transmissor (Tx)</a:t>
              </a:r>
              <a:endParaRPr/>
            </a:p>
          </p:txBody>
        </p:sp>
        <p:cxnSp>
          <p:nvCxnSpPr>
            <p:cNvPr id="480" name="Google Shape;480;p44"/>
            <p:cNvCxnSpPr/>
            <p:nvPr/>
          </p:nvCxnSpPr>
          <p:spPr>
            <a:xfrm>
              <a:off x="2245" y="3475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81" name="Google Shape;481;p44"/>
            <p:cNvSpPr txBox="1"/>
            <p:nvPr/>
          </p:nvSpPr>
          <p:spPr>
            <a:xfrm>
              <a:off x="3062" y="3339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Receptor (Rx)</a:t>
              </a:r>
              <a:endParaRPr/>
            </a:p>
          </p:txBody>
        </p:sp>
        <p:sp>
          <p:nvSpPr>
            <p:cNvPr id="482" name="Google Shape;482;p44"/>
            <p:cNvSpPr txBox="1"/>
            <p:nvPr/>
          </p:nvSpPr>
          <p:spPr>
            <a:xfrm>
              <a:off x="1202" y="3748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483" name="Google Shape;483;p44"/>
            <p:cNvSpPr txBox="1"/>
            <p:nvPr/>
          </p:nvSpPr>
          <p:spPr>
            <a:xfrm>
              <a:off x="3379" y="3702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5"/>
          <p:cNvSpPr txBox="1"/>
          <p:nvPr>
            <p:ph idx="1" type="body"/>
          </p:nvPr>
        </p:nvSpPr>
        <p:spPr>
          <a:xfrm>
            <a:off x="685800" y="620712"/>
            <a:ext cx="7773987" cy="2520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1" marL="6858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Half-duplex: transmissão é bidirecional mas, por compartilharem um mesmo canal de comunicação, não é possível transmitir e receber dados ao mesmo tempo. Ex.: falar com rádio de comunicação. </a:t>
            </a:r>
            <a:endParaRPr/>
          </a:p>
        </p:txBody>
      </p:sp>
      <p:grpSp>
        <p:nvGrpSpPr>
          <p:cNvPr id="489" name="Google Shape;489;p45"/>
          <p:cNvGrpSpPr/>
          <p:nvPr/>
        </p:nvGrpSpPr>
        <p:grpSpPr>
          <a:xfrm>
            <a:off x="1831975" y="3429000"/>
            <a:ext cx="5567362" cy="1255712"/>
            <a:chOff x="1154" y="2160"/>
            <a:chExt cx="3507" cy="791"/>
          </a:xfrm>
        </p:grpSpPr>
        <p:sp>
          <p:nvSpPr>
            <p:cNvPr id="490" name="Google Shape;490;p45"/>
            <p:cNvSpPr txBox="1"/>
            <p:nvPr/>
          </p:nvSpPr>
          <p:spPr>
            <a:xfrm>
              <a:off x="1154" y="2160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Transmissor (Tx)</a:t>
              </a:r>
              <a:endParaRPr/>
            </a:p>
          </p:txBody>
        </p:sp>
        <p:cxnSp>
          <p:nvCxnSpPr>
            <p:cNvPr id="491" name="Google Shape;491;p45"/>
            <p:cNvCxnSpPr/>
            <p:nvPr/>
          </p:nvCxnSpPr>
          <p:spPr>
            <a:xfrm>
              <a:off x="2471" y="2251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92" name="Google Shape;492;p45"/>
            <p:cNvSpPr txBox="1"/>
            <p:nvPr/>
          </p:nvSpPr>
          <p:spPr>
            <a:xfrm>
              <a:off x="3288" y="2160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Receptor (Rx)</a:t>
              </a:r>
              <a:endParaRPr/>
            </a:p>
          </p:txBody>
        </p:sp>
        <p:sp>
          <p:nvSpPr>
            <p:cNvPr id="493" name="Google Shape;493;p45"/>
            <p:cNvSpPr txBox="1"/>
            <p:nvPr/>
          </p:nvSpPr>
          <p:spPr>
            <a:xfrm>
              <a:off x="1441" y="2387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494" name="Google Shape;494;p45"/>
            <p:cNvSpPr txBox="1"/>
            <p:nvPr/>
          </p:nvSpPr>
          <p:spPr>
            <a:xfrm>
              <a:off x="3618" y="2387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495" name="Google Shape;495;p45"/>
            <p:cNvCxnSpPr/>
            <p:nvPr/>
          </p:nvCxnSpPr>
          <p:spPr>
            <a:xfrm rot="10800000">
              <a:off x="2540" y="2860"/>
              <a:ext cx="77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96" name="Google Shape;496;p45"/>
            <p:cNvSpPr txBox="1"/>
            <p:nvPr/>
          </p:nvSpPr>
          <p:spPr>
            <a:xfrm>
              <a:off x="1214" y="2714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Receptor (Tx)</a:t>
              </a:r>
              <a:endParaRPr/>
            </a:p>
          </p:txBody>
        </p:sp>
        <p:sp>
          <p:nvSpPr>
            <p:cNvPr id="497" name="Google Shape;497;p45"/>
            <p:cNvSpPr txBox="1"/>
            <p:nvPr/>
          </p:nvSpPr>
          <p:spPr>
            <a:xfrm>
              <a:off x="3346" y="2704"/>
              <a:ext cx="1315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Transmissor (Rx)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6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03" name="Google Shape;503;p46"/>
          <p:cNvSpPr txBox="1"/>
          <p:nvPr>
            <p:ph idx="1" type="body"/>
          </p:nvPr>
        </p:nvSpPr>
        <p:spPr>
          <a:xfrm>
            <a:off x="457200" y="1600200"/>
            <a:ext cx="8002587" cy="317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1" marL="6858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Full-duplex: é a verdadeira comunicação bidirecional, A e B podem transmitir e receber dados ao mesmo tempo. Ex.; aparelho telefônico. 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É uma transmissão recomendada em redes que necessitem de alto desempenho, como servidores de arquivos.</a:t>
            </a:r>
            <a:endParaRPr/>
          </a:p>
        </p:txBody>
      </p:sp>
      <p:grpSp>
        <p:nvGrpSpPr>
          <p:cNvPr id="504" name="Google Shape;504;p46"/>
          <p:cNvGrpSpPr/>
          <p:nvPr/>
        </p:nvGrpSpPr>
        <p:grpSpPr>
          <a:xfrm>
            <a:off x="1908175" y="4292600"/>
            <a:ext cx="5472112" cy="1016000"/>
            <a:chOff x="975" y="3249"/>
            <a:chExt cx="3447" cy="640"/>
          </a:xfrm>
        </p:grpSpPr>
        <p:sp>
          <p:nvSpPr>
            <p:cNvPr id="505" name="Google Shape;505;p46"/>
            <p:cNvSpPr txBox="1"/>
            <p:nvPr/>
          </p:nvSpPr>
          <p:spPr>
            <a:xfrm>
              <a:off x="975" y="3249"/>
              <a:ext cx="1315" cy="41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Transmissor e receptor</a:t>
              </a:r>
              <a:endParaRPr/>
            </a:p>
          </p:txBody>
        </p:sp>
        <p:sp>
          <p:nvSpPr>
            <p:cNvPr id="506" name="Google Shape;506;p46"/>
            <p:cNvSpPr txBox="1"/>
            <p:nvPr/>
          </p:nvSpPr>
          <p:spPr>
            <a:xfrm>
              <a:off x="3107" y="3249"/>
              <a:ext cx="1315" cy="41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Receptor e transmissor</a:t>
              </a:r>
              <a:endParaRPr/>
            </a:p>
          </p:txBody>
        </p:sp>
        <p:sp>
          <p:nvSpPr>
            <p:cNvPr id="507" name="Google Shape;507;p46"/>
            <p:cNvSpPr txBox="1"/>
            <p:nvPr/>
          </p:nvSpPr>
          <p:spPr>
            <a:xfrm>
              <a:off x="1247" y="3658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508" name="Google Shape;508;p46"/>
            <p:cNvSpPr txBox="1"/>
            <p:nvPr/>
          </p:nvSpPr>
          <p:spPr>
            <a:xfrm>
              <a:off x="3424" y="3612"/>
              <a:ext cx="54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cxnSp>
          <p:nvCxnSpPr>
            <p:cNvPr id="509" name="Google Shape;509;p46"/>
            <p:cNvCxnSpPr/>
            <p:nvPr/>
          </p:nvCxnSpPr>
          <p:spPr>
            <a:xfrm>
              <a:off x="2290" y="3339"/>
              <a:ext cx="81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7"/>
          <p:cNvSpPr txBox="1"/>
          <p:nvPr>
            <p:ph type="title"/>
          </p:nvPr>
        </p:nvSpPr>
        <p:spPr>
          <a:xfrm>
            <a:off x="549275" y="-315912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Transmissão de Informação</a:t>
            </a:r>
            <a:endParaRPr/>
          </a:p>
        </p:txBody>
      </p:sp>
      <p:sp>
        <p:nvSpPr>
          <p:cNvPr id="515" name="Google Shape;515;p47"/>
          <p:cNvSpPr txBox="1"/>
          <p:nvPr>
            <p:ph idx="1" type="body"/>
          </p:nvPr>
        </p:nvSpPr>
        <p:spPr>
          <a:xfrm>
            <a:off x="457200" y="1196975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 processo de comunicação envolve a transmissão de informações de um ponto a outro através de uma sucessão de processos.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geração de uma informação por um conjunto de dados;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descrição da informação por um conjunto de símbolos(caracteres);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codificação destes símbolos  em forma propícia de transmissão em meio físico;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transmissão desses símbolos codificados ao destino;</a:t>
            </a:r>
            <a:endParaRPr/>
          </a:p>
          <a:p>
            <a:pPr indent="-336550" lvl="1" marL="6858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15D77"/>
              </a:buClr>
              <a:buSzPts val="26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decodificação e reprodução dos símbolos.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8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Sinal X Informação</a:t>
            </a:r>
            <a:endParaRPr/>
          </a:p>
        </p:txBody>
      </p:sp>
      <p:sp>
        <p:nvSpPr>
          <p:cNvPr id="521" name="Google Shape;521;p48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Sinais são ondas que se propagam através de algum meio físico, seja ele o ar, um par de fios metálicos ou fibras ópticas.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Informação está associada a idéias  ou a dados manipulados pelos agentes que as criam, manipulam e processam.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Os sinais sejam elétricos, luminosos ou magnéticos transmitem os dados que geram as informações.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9"/>
          <p:cNvSpPr txBox="1"/>
          <p:nvPr>
            <p:ph type="title"/>
          </p:nvPr>
        </p:nvSpPr>
        <p:spPr>
          <a:xfrm>
            <a:off x="468312" y="26035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Os termos Analógico e Digital</a:t>
            </a:r>
            <a:endParaRPr/>
          </a:p>
        </p:txBody>
      </p:sp>
      <p:sp>
        <p:nvSpPr>
          <p:cNvPr id="527" name="Google Shape;527;p49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Estes termos correspondem de certa maneira à variação contínua ou discreta, respectivamente. 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Eles são constantemente utilizados no contexto de comunicação de dados para qualificar tanto a natureza das informações, quanto à característica dos sinais utilizados para a transmissão de dados através dos meios físicos.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Computadores são equipamentos que armazenam, processam e codificam informações em bits que correspondem a dois níveis discretos de tensão ou corrente, “1” e “0”.</a:t>
            </a:r>
            <a:endParaRPr/>
          </a:p>
          <a:p>
            <a:pPr indent="-349250" lvl="0" marL="349250" marR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310"/>
              <a:buFont typeface="Noto Sans Symbols"/>
              <a:buChar char="⚫"/>
            </a:pPr>
            <a:r>
              <a:rPr b="0" i="0" lang="en-US" sz="21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Informações gerados por fontes sonoras apresentam variações contínuas de amplitude, constituindo-se no tipo de informação que comumente denominamos analógica.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aramond"/>
              <a:buNone/>
            </a:pPr>
            <a:r>
              <a:rPr b="0" i="0" lang="en-US" sz="3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SINAL ANALÓGICO X SINAL DIGITAL</a:t>
            </a:r>
            <a:endParaRPr/>
          </a:p>
        </p:txBody>
      </p:sp>
      <p:sp>
        <p:nvSpPr>
          <p:cNvPr id="533" name="Google Shape;533;p50"/>
          <p:cNvSpPr txBox="1"/>
          <p:nvPr>
            <p:ph idx="1" type="body"/>
          </p:nvPr>
        </p:nvSpPr>
        <p:spPr>
          <a:xfrm>
            <a:off x="685800" y="1981200"/>
            <a:ext cx="7847012" cy="1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Sinais analógicas podem assumir qualquer valor ao longo do tempo dentro de um intervalo.</a:t>
            </a:r>
            <a:endParaRPr/>
          </a:p>
        </p:txBody>
      </p:sp>
      <p:grpSp>
        <p:nvGrpSpPr>
          <p:cNvPr id="534" name="Google Shape;534;p50"/>
          <p:cNvGrpSpPr/>
          <p:nvPr/>
        </p:nvGrpSpPr>
        <p:grpSpPr>
          <a:xfrm>
            <a:off x="1258887" y="3068637"/>
            <a:ext cx="2881312" cy="2376487"/>
            <a:chOff x="793" y="2296"/>
            <a:chExt cx="1815" cy="1497"/>
          </a:xfrm>
        </p:grpSpPr>
        <p:cxnSp>
          <p:nvCxnSpPr>
            <p:cNvPr id="535" name="Google Shape;535;p50"/>
            <p:cNvCxnSpPr/>
            <p:nvPr/>
          </p:nvCxnSpPr>
          <p:spPr>
            <a:xfrm rot="10800000">
              <a:off x="1156" y="2296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36" name="Google Shape;536;p50"/>
            <p:cNvCxnSpPr/>
            <p:nvPr/>
          </p:nvCxnSpPr>
          <p:spPr>
            <a:xfrm>
              <a:off x="793" y="3067"/>
              <a:ext cx="181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37" name="Google Shape;537;p50"/>
            <p:cNvSpPr/>
            <p:nvPr/>
          </p:nvSpPr>
          <p:spPr>
            <a:xfrm>
              <a:off x="1152" y="2584"/>
              <a:ext cx="1161" cy="1091"/>
            </a:xfrm>
            <a:custGeom>
              <a:rect b="b" l="l" r="r" t="t"/>
              <a:pathLst>
                <a:path extrusionOk="0" h="1091" w="1161">
                  <a:moveTo>
                    <a:pt x="0" y="470"/>
                  </a:moveTo>
                  <a:cubicBezTo>
                    <a:pt x="20" y="440"/>
                    <a:pt x="45" y="418"/>
                    <a:pt x="64" y="387"/>
                  </a:cubicBezTo>
                  <a:cubicBezTo>
                    <a:pt x="71" y="376"/>
                    <a:pt x="75" y="363"/>
                    <a:pt x="82" y="351"/>
                  </a:cubicBezTo>
                  <a:cubicBezTo>
                    <a:pt x="88" y="341"/>
                    <a:pt x="95" y="332"/>
                    <a:pt x="101" y="323"/>
                  </a:cubicBezTo>
                  <a:cubicBezTo>
                    <a:pt x="95" y="195"/>
                    <a:pt x="80" y="119"/>
                    <a:pt x="91" y="3"/>
                  </a:cubicBezTo>
                  <a:cubicBezTo>
                    <a:pt x="146" y="12"/>
                    <a:pt x="172" y="5"/>
                    <a:pt x="201" y="49"/>
                  </a:cubicBezTo>
                  <a:cubicBezTo>
                    <a:pt x="204" y="122"/>
                    <a:pt x="194" y="197"/>
                    <a:pt x="210" y="269"/>
                  </a:cubicBezTo>
                  <a:cubicBezTo>
                    <a:pt x="213" y="281"/>
                    <a:pt x="245" y="272"/>
                    <a:pt x="247" y="259"/>
                  </a:cubicBezTo>
                  <a:cubicBezTo>
                    <a:pt x="295" y="0"/>
                    <a:pt x="176" y="49"/>
                    <a:pt x="283" y="13"/>
                  </a:cubicBezTo>
                  <a:cubicBezTo>
                    <a:pt x="342" y="32"/>
                    <a:pt x="324" y="90"/>
                    <a:pt x="329" y="150"/>
                  </a:cubicBezTo>
                  <a:cubicBezTo>
                    <a:pt x="323" y="449"/>
                    <a:pt x="306" y="691"/>
                    <a:pt x="320" y="982"/>
                  </a:cubicBezTo>
                  <a:cubicBezTo>
                    <a:pt x="322" y="1035"/>
                    <a:pt x="317" y="1075"/>
                    <a:pt x="366" y="1091"/>
                  </a:cubicBezTo>
                  <a:cubicBezTo>
                    <a:pt x="403" y="1017"/>
                    <a:pt x="413" y="992"/>
                    <a:pt x="430" y="909"/>
                  </a:cubicBezTo>
                  <a:cubicBezTo>
                    <a:pt x="435" y="884"/>
                    <a:pt x="448" y="835"/>
                    <a:pt x="448" y="835"/>
                  </a:cubicBezTo>
                  <a:cubicBezTo>
                    <a:pt x="458" y="865"/>
                    <a:pt x="474" y="888"/>
                    <a:pt x="485" y="918"/>
                  </a:cubicBezTo>
                  <a:cubicBezTo>
                    <a:pt x="492" y="972"/>
                    <a:pt x="483" y="1032"/>
                    <a:pt x="530" y="1064"/>
                  </a:cubicBezTo>
                  <a:cubicBezTo>
                    <a:pt x="531" y="1064"/>
                    <a:pt x="593" y="1047"/>
                    <a:pt x="594" y="1027"/>
                  </a:cubicBezTo>
                  <a:cubicBezTo>
                    <a:pt x="600" y="916"/>
                    <a:pt x="584" y="859"/>
                    <a:pt x="539" y="771"/>
                  </a:cubicBezTo>
                  <a:cubicBezTo>
                    <a:pt x="522" y="700"/>
                    <a:pt x="514" y="691"/>
                    <a:pt x="475" y="634"/>
                  </a:cubicBezTo>
                  <a:cubicBezTo>
                    <a:pt x="468" y="612"/>
                    <a:pt x="455" y="592"/>
                    <a:pt x="448" y="570"/>
                  </a:cubicBezTo>
                  <a:cubicBezTo>
                    <a:pt x="440" y="546"/>
                    <a:pt x="438" y="521"/>
                    <a:pt x="430" y="497"/>
                  </a:cubicBezTo>
                  <a:cubicBezTo>
                    <a:pt x="430" y="493"/>
                    <a:pt x="433" y="321"/>
                    <a:pt x="448" y="269"/>
                  </a:cubicBezTo>
                  <a:cubicBezTo>
                    <a:pt x="463" y="218"/>
                    <a:pt x="502" y="201"/>
                    <a:pt x="530" y="159"/>
                  </a:cubicBezTo>
                  <a:cubicBezTo>
                    <a:pt x="554" y="124"/>
                    <a:pt x="574" y="89"/>
                    <a:pt x="603" y="58"/>
                  </a:cubicBezTo>
                  <a:cubicBezTo>
                    <a:pt x="627" y="126"/>
                    <a:pt x="616" y="201"/>
                    <a:pt x="594" y="269"/>
                  </a:cubicBezTo>
                  <a:cubicBezTo>
                    <a:pt x="597" y="290"/>
                    <a:pt x="589" y="317"/>
                    <a:pt x="603" y="333"/>
                  </a:cubicBezTo>
                  <a:cubicBezTo>
                    <a:pt x="611" y="343"/>
                    <a:pt x="630" y="331"/>
                    <a:pt x="640" y="323"/>
                  </a:cubicBezTo>
                  <a:cubicBezTo>
                    <a:pt x="651" y="314"/>
                    <a:pt x="662" y="274"/>
                    <a:pt x="667" y="259"/>
                  </a:cubicBezTo>
                  <a:cubicBezTo>
                    <a:pt x="670" y="213"/>
                    <a:pt x="661" y="165"/>
                    <a:pt x="677" y="122"/>
                  </a:cubicBezTo>
                  <a:cubicBezTo>
                    <a:pt x="685" y="102"/>
                    <a:pt x="731" y="86"/>
                    <a:pt x="731" y="86"/>
                  </a:cubicBezTo>
                  <a:cubicBezTo>
                    <a:pt x="906" y="335"/>
                    <a:pt x="584" y="760"/>
                    <a:pt x="786" y="973"/>
                  </a:cubicBezTo>
                  <a:cubicBezTo>
                    <a:pt x="797" y="1016"/>
                    <a:pt x="805" y="1021"/>
                    <a:pt x="841" y="1046"/>
                  </a:cubicBezTo>
                  <a:cubicBezTo>
                    <a:pt x="987" y="1012"/>
                    <a:pt x="969" y="1040"/>
                    <a:pt x="987" y="909"/>
                  </a:cubicBezTo>
                  <a:cubicBezTo>
                    <a:pt x="990" y="799"/>
                    <a:pt x="987" y="689"/>
                    <a:pt x="997" y="579"/>
                  </a:cubicBezTo>
                  <a:cubicBezTo>
                    <a:pt x="1001" y="536"/>
                    <a:pt x="1002" y="664"/>
                    <a:pt x="1006" y="707"/>
                  </a:cubicBezTo>
                  <a:cubicBezTo>
                    <a:pt x="1016" y="809"/>
                    <a:pt x="1075" y="906"/>
                    <a:pt x="1161" y="963"/>
                  </a:cubicBezTo>
                  <a:cubicBezTo>
                    <a:pt x="1153" y="805"/>
                    <a:pt x="1134" y="656"/>
                    <a:pt x="1134" y="49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50"/>
          <p:cNvSpPr txBox="1"/>
          <p:nvPr/>
        </p:nvSpPr>
        <p:spPr>
          <a:xfrm>
            <a:off x="1116012" y="5661025"/>
            <a:ext cx="3168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 de sinal analógico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1"/>
          <p:cNvSpPr txBox="1"/>
          <p:nvPr>
            <p:ph idx="1" type="body"/>
          </p:nvPr>
        </p:nvSpPr>
        <p:spPr>
          <a:xfrm>
            <a:off x="685800" y="908050"/>
            <a:ext cx="7918450" cy="374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Um sinal digital caracteriza-se pela presença de pulsos nos quais a amplitude é fixa. O sinal é construído através de uma sequencia de intervalos de tamanho fixo iguais, chamados de intervalos de sinalização.</a:t>
            </a:r>
            <a:endParaRPr/>
          </a:p>
        </p:txBody>
      </p:sp>
      <p:grpSp>
        <p:nvGrpSpPr>
          <p:cNvPr id="544" name="Google Shape;544;p51"/>
          <p:cNvGrpSpPr/>
          <p:nvPr/>
        </p:nvGrpSpPr>
        <p:grpSpPr>
          <a:xfrm>
            <a:off x="900112" y="3213100"/>
            <a:ext cx="3600450" cy="1655762"/>
            <a:chOff x="204" y="3113"/>
            <a:chExt cx="2268" cy="1043"/>
          </a:xfrm>
        </p:grpSpPr>
        <p:cxnSp>
          <p:nvCxnSpPr>
            <p:cNvPr id="545" name="Google Shape;545;p51"/>
            <p:cNvCxnSpPr/>
            <p:nvPr/>
          </p:nvCxnSpPr>
          <p:spPr>
            <a:xfrm rot="10800000">
              <a:off x="612" y="3113"/>
              <a:ext cx="0" cy="10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46" name="Google Shape;546;p51"/>
            <p:cNvCxnSpPr/>
            <p:nvPr/>
          </p:nvCxnSpPr>
          <p:spPr>
            <a:xfrm>
              <a:off x="204" y="3838"/>
              <a:ext cx="22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547" name="Google Shape;547;p51"/>
            <p:cNvCxnSpPr/>
            <p:nvPr/>
          </p:nvCxnSpPr>
          <p:spPr>
            <a:xfrm>
              <a:off x="612" y="3566"/>
              <a:ext cx="18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48" name="Google Shape;548;p51"/>
            <p:cNvCxnSpPr/>
            <p:nvPr/>
          </p:nvCxnSpPr>
          <p:spPr>
            <a:xfrm>
              <a:off x="793" y="3566"/>
              <a:ext cx="0" cy="2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49" name="Google Shape;549;p51"/>
            <p:cNvCxnSpPr/>
            <p:nvPr/>
          </p:nvCxnSpPr>
          <p:spPr>
            <a:xfrm>
              <a:off x="793" y="3793"/>
              <a:ext cx="18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0" name="Google Shape;550;p51"/>
            <p:cNvCxnSpPr/>
            <p:nvPr/>
          </p:nvCxnSpPr>
          <p:spPr>
            <a:xfrm rot="10800000">
              <a:off x="975" y="3521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1" name="Google Shape;551;p51"/>
            <p:cNvCxnSpPr/>
            <p:nvPr/>
          </p:nvCxnSpPr>
          <p:spPr>
            <a:xfrm>
              <a:off x="975" y="3521"/>
              <a:ext cx="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2" name="Google Shape;552;p51"/>
            <p:cNvCxnSpPr/>
            <p:nvPr/>
          </p:nvCxnSpPr>
          <p:spPr>
            <a:xfrm>
              <a:off x="1247" y="3521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3" name="Google Shape;553;p51"/>
            <p:cNvCxnSpPr/>
            <p:nvPr/>
          </p:nvCxnSpPr>
          <p:spPr>
            <a:xfrm>
              <a:off x="1247" y="3793"/>
              <a:ext cx="40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4" name="Google Shape;554;p51"/>
            <p:cNvCxnSpPr/>
            <p:nvPr/>
          </p:nvCxnSpPr>
          <p:spPr>
            <a:xfrm rot="10800000">
              <a:off x="1655" y="3521"/>
              <a:ext cx="0" cy="2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55" name="Google Shape;555;p51"/>
            <p:cNvCxnSpPr/>
            <p:nvPr/>
          </p:nvCxnSpPr>
          <p:spPr>
            <a:xfrm>
              <a:off x="1655" y="3521"/>
              <a:ext cx="22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56" name="Google Shape;556;p51"/>
          <p:cNvSpPr txBox="1"/>
          <p:nvPr/>
        </p:nvSpPr>
        <p:spPr>
          <a:xfrm>
            <a:off x="4787900" y="5516562"/>
            <a:ext cx="3384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 de um sinal digital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2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chemeClr val="accen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2" name="Google Shape;562;p52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É importante ressaltar que qualquer tipo de informação (analógica ou digital) pode ser transmitida através de um sinal analógico ou digital.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Vantagem do sinal analógico é que  pode assumir qualquer valor, o que é também sua grande desvantagem. 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Como o receptor também é analógico  não tem como verificar se a informação recebida está correto ou não.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Char char="⚫"/>
            </a:pPr>
            <a:r>
              <a:rPr b="0" i="0" lang="en-US" sz="22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Os computadores usam um sistema digital de informações, e os protocolos de rede fazem as conversões necessárias para o nosso entendimento.</a:t>
            </a:r>
            <a:endParaRPr/>
          </a:p>
          <a:p>
            <a:pPr indent="-195580" lvl="0" marL="349250" marR="0" rtl="0" algn="l"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42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3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MODULAÇÃO</a:t>
            </a:r>
            <a:endParaRPr/>
          </a:p>
        </p:txBody>
      </p:sp>
      <p:sp>
        <p:nvSpPr>
          <p:cNvPr id="568" name="Google Shape;568;p53"/>
          <p:cNvSpPr txBox="1"/>
          <p:nvPr>
            <p:ph idx="1" type="body"/>
          </p:nvPr>
        </p:nvSpPr>
        <p:spPr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Os números digitais, são transmitidos em forma de impulsos elétricos, ópticos ou magnéticos, dependendo do meio de transmissão usado na conexão dos computadores (cabos elétricos, fibras ópticas, transmissão via rádio, etc).</a:t>
            </a:r>
            <a:endParaRPr/>
          </a:p>
          <a:p>
            <a:pPr indent="-349250" lvl="0" marL="349250" marR="0" rtl="0" algn="just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Eventualmente, os sinais digitais manipulados pelo computador necessitam ser transformados em sinais analógicos para serem transmitidos pelo meio de transmissão conforme figura a seguir: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Modulação de dados</a:t>
            </a:r>
            <a:endParaRPr/>
          </a:p>
        </p:txBody>
      </p:sp>
      <p:grpSp>
        <p:nvGrpSpPr>
          <p:cNvPr id="574" name="Google Shape;574;p54"/>
          <p:cNvGrpSpPr/>
          <p:nvPr/>
        </p:nvGrpSpPr>
        <p:grpSpPr>
          <a:xfrm>
            <a:off x="539750" y="1484312"/>
            <a:ext cx="8064500" cy="3967162"/>
            <a:chOff x="295" y="1570"/>
            <a:chExt cx="5080" cy="2499"/>
          </a:xfrm>
        </p:grpSpPr>
        <p:grpSp>
          <p:nvGrpSpPr>
            <p:cNvPr id="575" name="Google Shape;575;p54"/>
            <p:cNvGrpSpPr/>
            <p:nvPr/>
          </p:nvGrpSpPr>
          <p:grpSpPr>
            <a:xfrm>
              <a:off x="295" y="1570"/>
              <a:ext cx="1179" cy="1134"/>
              <a:chOff x="295" y="1570"/>
              <a:chExt cx="1179" cy="1134"/>
            </a:xfrm>
          </p:grpSpPr>
          <p:sp>
            <p:nvSpPr>
              <p:cNvPr id="576" name="Google Shape;576;p54"/>
              <p:cNvSpPr txBox="1"/>
              <p:nvPr/>
            </p:nvSpPr>
            <p:spPr>
              <a:xfrm>
                <a:off x="295" y="1570"/>
                <a:ext cx="1179" cy="113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54"/>
              <p:cNvSpPr txBox="1"/>
              <p:nvPr/>
            </p:nvSpPr>
            <p:spPr>
              <a:xfrm>
                <a:off x="295" y="1570"/>
                <a:ext cx="1134" cy="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Transmissor (Tx)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578" name="Google Shape;578;p54"/>
              <p:cNvGrpSpPr/>
              <p:nvPr/>
            </p:nvGrpSpPr>
            <p:grpSpPr>
              <a:xfrm>
                <a:off x="521" y="2024"/>
                <a:ext cx="681" cy="499"/>
                <a:chOff x="204" y="3113"/>
                <a:chExt cx="2268" cy="1043"/>
              </a:xfrm>
            </p:grpSpPr>
            <p:cxnSp>
              <p:nvCxnSpPr>
                <p:cNvPr id="579" name="Google Shape;579;p54"/>
                <p:cNvCxnSpPr/>
                <p:nvPr/>
              </p:nvCxnSpPr>
              <p:spPr>
                <a:xfrm rot="10800000">
                  <a:off x="612" y="3113"/>
                  <a:ext cx="0" cy="10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  <p:cxnSp>
              <p:nvCxnSpPr>
                <p:cNvPr id="580" name="Google Shape;580;p54"/>
                <p:cNvCxnSpPr/>
                <p:nvPr/>
              </p:nvCxnSpPr>
              <p:spPr>
                <a:xfrm>
                  <a:off x="204" y="3838"/>
                  <a:ext cx="22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  <p:cxnSp>
              <p:nvCxnSpPr>
                <p:cNvPr id="581" name="Google Shape;581;p54"/>
                <p:cNvCxnSpPr/>
                <p:nvPr/>
              </p:nvCxnSpPr>
              <p:spPr>
                <a:xfrm>
                  <a:off x="612" y="3566"/>
                  <a:ext cx="1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2" name="Google Shape;582;p54"/>
                <p:cNvCxnSpPr/>
                <p:nvPr/>
              </p:nvCxnSpPr>
              <p:spPr>
                <a:xfrm>
                  <a:off x="793" y="3566"/>
                  <a:ext cx="0" cy="2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3" name="Google Shape;583;p54"/>
                <p:cNvCxnSpPr/>
                <p:nvPr/>
              </p:nvCxnSpPr>
              <p:spPr>
                <a:xfrm>
                  <a:off x="793" y="3793"/>
                  <a:ext cx="18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4" name="Google Shape;584;p54"/>
                <p:cNvCxnSpPr/>
                <p:nvPr/>
              </p:nvCxnSpPr>
              <p:spPr>
                <a:xfrm rot="10800000">
                  <a:off x="975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5" name="Google Shape;585;p54"/>
                <p:cNvCxnSpPr/>
                <p:nvPr/>
              </p:nvCxnSpPr>
              <p:spPr>
                <a:xfrm>
                  <a:off x="975" y="3521"/>
                  <a:ext cx="27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6" name="Google Shape;586;p54"/>
                <p:cNvCxnSpPr/>
                <p:nvPr/>
              </p:nvCxnSpPr>
              <p:spPr>
                <a:xfrm>
                  <a:off x="1247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7" name="Google Shape;587;p54"/>
                <p:cNvCxnSpPr/>
                <p:nvPr/>
              </p:nvCxnSpPr>
              <p:spPr>
                <a:xfrm>
                  <a:off x="1247" y="3793"/>
                  <a:ext cx="40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8" name="Google Shape;588;p54"/>
                <p:cNvCxnSpPr/>
                <p:nvPr/>
              </p:nvCxnSpPr>
              <p:spPr>
                <a:xfrm rot="10800000">
                  <a:off x="1655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9" name="Google Shape;589;p54"/>
                <p:cNvCxnSpPr/>
                <p:nvPr/>
              </p:nvCxnSpPr>
              <p:spPr>
                <a:xfrm>
                  <a:off x="1655" y="3521"/>
                  <a:ext cx="22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590" name="Google Shape;590;p54"/>
            <p:cNvGrpSpPr/>
            <p:nvPr/>
          </p:nvGrpSpPr>
          <p:grpSpPr>
            <a:xfrm>
              <a:off x="4150" y="1570"/>
              <a:ext cx="1179" cy="1134"/>
              <a:chOff x="295" y="1570"/>
              <a:chExt cx="1179" cy="1134"/>
            </a:xfrm>
          </p:grpSpPr>
          <p:sp>
            <p:nvSpPr>
              <p:cNvPr id="591" name="Google Shape;591;p54"/>
              <p:cNvSpPr txBox="1"/>
              <p:nvPr/>
            </p:nvSpPr>
            <p:spPr>
              <a:xfrm>
                <a:off x="295" y="1570"/>
                <a:ext cx="1179" cy="113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54"/>
              <p:cNvSpPr txBox="1"/>
              <p:nvPr/>
            </p:nvSpPr>
            <p:spPr>
              <a:xfrm>
                <a:off x="295" y="1570"/>
                <a:ext cx="1134" cy="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imes New Roman"/>
                  <a:buNone/>
                </a:pPr>
                <a:r>
                  <a:rPr b="0" i="0" lang="en-US" sz="1800" u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Receptor (Rx)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593" name="Google Shape;593;p54"/>
              <p:cNvGrpSpPr/>
              <p:nvPr/>
            </p:nvGrpSpPr>
            <p:grpSpPr>
              <a:xfrm>
                <a:off x="521" y="2024"/>
                <a:ext cx="681" cy="499"/>
                <a:chOff x="204" y="3113"/>
                <a:chExt cx="2268" cy="1043"/>
              </a:xfrm>
            </p:grpSpPr>
            <p:cxnSp>
              <p:nvCxnSpPr>
                <p:cNvPr id="594" name="Google Shape;594;p54"/>
                <p:cNvCxnSpPr/>
                <p:nvPr/>
              </p:nvCxnSpPr>
              <p:spPr>
                <a:xfrm rot="10800000">
                  <a:off x="612" y="3113"/>
                  <a:ext cx="0" cy="10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  <p:cxnSp>
              <p:nvCxnSpPr>
                <p:cNvPr id="595" name="Google Shape;595;p54"/>
                <p:cNvCxnSpPr/>
                <p:nvPr/>
              </p:nvCxnSpPr>
              <p:spPr>
                <a:xfrm>
                  <a:off x="204" y="3838"/>
                  <a:ext cx="226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triangle"/>
                </a:ln>
              </p:spPr>
            </p:cxnSp>
            <p:cxnSp>
              <p:nvCxnSpPr>
                <p:cNvPr id="596" name="Google Shape;596;p54"/>
                <p:cNvCxnSpPr/>
                <p:nvPr/>
              </p:nvCxnSpPr>
              <p:spPr>
                <a:xfrm>
                  <a:off x="612" y="3566"/>
                  <a:ext cx="1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7" name="Google Shape;597;p54"/>
                <p:cNvCxnSpPr/>
                <p:nvPr/>
              </p:nvCxnSpPr>
              <p:spPr>
                <a:xfrm>
                  <a:off x="793" y="3566"/>
                  <a:ext cx="0" cy="22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8" name="Google Shape;598;p54"/>
                <p:cNvCxnSpPr/>
                <p:nvPr/>
              </p:nvCxnSpPr>
              <p:spPr>
                <a:xfrm>
                  <a:off x="793" y="3793"/>
                  <a:ext cx="18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9" name="Google Shape;599;p54"/>
                <p:cNvCxnSpPr/>
                <p:nvPr/>
              </p:nvCxnSpPr>
              <p:spPr>
                <a:xfrm rot="10800000">
                  <a:off x="975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0" name="Google Shape;600;p54"/>
                <p:cNvCxnSpPr/>
                <p:nvPr/>
              </p:nvCxnSpPr>
              <p:spPr>
                <a:xfrm>
                  <a:off x="975" y="3521"/>
                  <a:ext cx="27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1" name="Google Shape;601;p54"/>
                <p:cNvCxnSpPr/>
                <p:nvPr/>
              </p:nvCxnSpPr>
              <p:spPr>
                <a:xfrm>
                  <a:off x="1247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2" name="Google Shape;602;p54"/>
                <p:cNvCxnSpPr/>
                <p:nvPr/>
              </p:nvCxnSpPr>
              <p:spPr>
                <a:xfrm>
                  <a:off x="1247" y="3793"/>
                  <a:ext cx="40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3" name="Google Shape;603;p54"/>
                <p:cNvCxnSpPr/>
                <p:nvPr/>
              </p:nvCxnSpPr>
              <p:spPr>
                <a:xfrm rot="10800000">
                  <a:off x="1655" y="3521"/>
                  <a:ext cx="0" cy="2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4" name="Google Shape;604;p54"/>
                <p:cNvCxnSpPr/>
                <p:nvPr/>
              </p:nvCxnSpPr>
              <p:spPr>
                <a:xfrm>
                  <a:off x="1655" y="3521"/>
                  <a:ext cx="22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605" name="Google Shape;605;p54"/>
            <p:cNvGrpSpPr/>
            <p:nvPr/>
          </p:nvGrpSpPr>
          <p:grpSpPr>
            <a:xfrm>
              <a:off x="2154" y="2432"/>
              <a:ext cx="1044" cy="726"/>
              <a:chOff x="793" y="2296"/>
              <a:chExt cx="1815" cy="1497"/>
            </a:xfrm>
          </p:grpSpPr>
          <p:cxnSp>
            <p:nvCxnSpPr>
              <p:cNvPr id="606" name="Google Shape;606;p54"/>
              <p:cNvCxnSpPr/>
              <p:nvPr/>
            </p:nvCxnSpPr>
            <p:spPr>
              <a:xfrm rot="10800000">
                <a:off x="1156" y="2296"/>
                <a:ext cx="0" cy="149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cxnSp>
            <p:nvCxnSpPr>
              <p:cNvPr id="607" name="Google Shape;607;p54"/>
              <p:cNvCxnSpPr/>
              <p:nvPr/>
            </p:nvCxnSpPr>
            <p:spPr>
              <a:xfrm>
                <a:off x="793" y="3067"/>
                <a:ext cx="181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triangle"/>
              </a:ln>
            </p:spPr>
          </p:cxnSp>
          <p:sp>
            <p:nvSpPr>
              <p:cNvPr id="608" name="Google Shape;608;p54"/>
              <p:cNvSpPr/>
              <p:nvPr/>
            </p:nvSpPr>
            <p:spPr>
              <a:xfrm>
                <a:off x="1152" y="2584"/>
                <a:ext cx="1161" cy="1091"/>
              </a:xfrm>
              <a:custGeom>
                <a:rect b="b" l="l" r="r" t="t"/>
                <a:pathLst>
                  <a:path extrusionOk="0" h="1091" w="1161">
                    <a:moveTo>
                      <a:pt x="0" y="470"/>
                    </a:moveTo>
                    <a:cubicBezTo>
                      <a:pt x="20" y="440"/>
                      <a:pt x="45" y="418"/>
                      <a:pt x="64" y="387"/>
                    </a:cubicBezTo>
                    <a:cubicBezTo>
                      <a:pt x="71" y="376"/>
                      <a:pt x="75" y="363"/>
                      <a:pt x="82" y="351"/>
                    </a:cubicBezTo>
                    <a:cubicBezTo>
                      <a:pt x="88" y="341"/>
                      <a:pt x="95" y="332"/>
                      <a:pt x="101" y="323"/>
                    </a:cubicBezTo>
                    <a:cubicBezTo>
                      <a:pt x="95" y="195"/>
                      <a:pt x="80" y="119"/>
                      <a:pt x="91" y="3"/>
                    </a:cubicBezTo>
                    <a:cubicBezTo>
                      <a:pt x="146" y="12"/>
                      <a:pt x="172" y="5"/>
                      <a:pt x="201" y="49"/>
                    </a:cubicBezTo>
                    <a:cubicBezTo>
                      <a:pt x="204" y="122"/>
                      <a:pt x="194" y="197"/>
                      <a:pt x="210" y="269"/>
                    </a:cubicBezTo>
                    <a:cubicBezTo>
                      <a:pt x="213" y="281"/>
                      <a:pt x="245" y="272"/>
                      <a:pt x="247" y="259"/>
                    </a:cubicBezTo>
                    <a:cubicBezTo>
                      <a:pt x="295" y="0"/>
                      <a:pt x="176" y="49"/>
                      <a:pt x="283" y="13"/>
                    </a:cubicBezTo>
                    <a:cubicBezTo>
                      <a:pt x="342" y="32"/>
                      <a:pt x="324" y="90"/>
                      <a:pt x="329" y="150"/>
                    </a:cubicBezTo>
                    <a:cubicBezTo>
                      <a:pt x="323" y="449"/>
                      <a:pt x="306" y="691"/>
                      <a:pt x="320" y="982"/>
                    </a:cubicBezTo>
                    <a:cubicBezTo>
                      <a:pt x="322" y="1035"/>
                      <a:pt x="317" y="1075"/>
                      <a:pt x="366" y="1091"/>
                    </a:cubicBezTo>
                    <a:cubicBezTo>
                      <a:pt x="403" y="1017"/>
                      <a:pt x="413" y="992"/>
                      <a:pt x="430" y="909"/>
                    </a:cubicBezTo>
                    <a:cubicBezTo>
                      <a:pt x="435" y="884"/>
                      <a:pt x="448" y="835"/>
                      <a:pt x="448" y="835"/>
                    </a:cubicBezTo>
                    <a:cubicBezTo>
                      <a:pt x="458" y="865"/>
                      <a:pt x="474" y="888"/>
                      <a:pt x="485" y="918"/>
                    </a:cubicBezTo>
                    <a:cubicBezTo>
                      <a:pt x="492" y="972"/>
                      <a:pt x="483" y="1032"/>
                      <a:pt x="530" y="1064"/>
                    </a:cubicBezTo>
                    <a:cubicBezTo>
                      <a:pt x="531" y="1064"/>
                      <a:pt x="593" y="1047"/>
                      <a:pt x="594" y="1027"/>
                    </a:cubicBezTo>
                    <a:cubicBezTo>
                      <a:pt x="600" y="916"/>
                      <a:pt x="584" y="859"/>
                      <a:pt x="539" y="771"/>
                    </a:cubicBezTo>
                    <a:cubicBezTo>
                      <a:pt x="522" y="700"/>
                      <a:pt x="514" y="691"/>
                      <a:pt x="475" y="634"/>
                    </a:cubicBezTo>
                    <a:cubicBezTo>
                      <a:pt x="468" y="612"/>
                      <a:pt x="455" y="592"/>
                      <a:pt x="448" y="570"/>
                    </a:cubicBezTo>
                    <a:cubicBezTo>
                      <a:pt x="440" y="546"/>
                      <a:pt x="438" y="521"/>
                      <a:pt x="430" y="497"/>
                    </a:cubicBezTo>
                    <a:cubicBezTo>
                      <a:pt x="430" y="493"/>
                      <a:pt x="433" y="321"/>
                      <a:pt x="448" y="269"/>
                    </a:cubicBezTo>
                    <a:cubicBezTo>
                      <a:pt x="463" y="218"/>
                      <a:pt x="502" y="201"/>
                      <a:pt x="530" y="159"/>
                    </a:cubicBezTo>
                    <a:cubicBezTo>
                      <a:pt x="554" y="124"/>
                      <a:pt x="574" y="89"/>
                      <a:pt x="603" y="58"/>
                    </a:cubicBezTo>
                    <a:cubicBezTo>
                      <a:pt x="627" y="126"/>
                      <a:pt x="616" y="201"/>
                      <a:pt x="594" y="269"/>
                    </a:cubicBezTo>
                    <a:cubicBezTo>
                      <a:pt x="597" y="290"/>
                      <a:pt x="589" y="317"/>
                      <a:pt x="603" y="333"/>
                    </a:cubicBezTo>
                    <a:cubicBezTo>
                      <a:pt x="611" y="343"/>
                      <a:pt x="630" y="331"/>
                      <a:pt x="640" y="323"/>
                    </a:cubicBezTo>
                    <a:cubicBezTo>
                      <a:pt x="651" y="314"/>
                      <a:pt x="662" y="274"/>
                      <a:pt x="667" y="259"/>
                    </a:cubicBezTo>
                    <a:cubicBezTo>
                      <a:pt x="670" y="213"/>
                      <a:pt x="661" y="165"/>
                      <a:pt x="677" y="122"/>
                    </a:cubicBezTo>
                    <a:cubicBezTo>
                      <a:pt x="685" y="102"/>
                      <a:pt x="731" y="86"/>
                      <a:pt x="731" y="86"/>
                    </a:cubicBezTo>
                    <a:cubicBezTo>
                      <a:pt x="906" y="335"/>
                      <a:pt x="584" y="760"/>
                      <a:pt x="786" y="973"/>
                    </a:cubicBezTo>
                    <a:cubicBezTo>
                      <a:pt x="797" y="1016"/>
                      <a:pt x="805" y="1021"/>
                      <a:pt x="841" y="1046"/>
                    </a:cubicBezTo>
                    <a:cubicBezTo>
                      <a:pt x="987" y="1012"/>
                      <a:pt x="969" y="1040"/>
                      <a:pt x="987" y="909"/>
                    </a:cubicBezTo>
                    <a:cubicBezTo>
                      <a:pt x="990" y="799"/>
                      <a:pt x="987" y="689"/>
                      <a:pt x="997" y="579"/>
                    </a:cubicBezTo>
                    <a:cubicBezTo>
                      <a:pt x="1001" y="536"/>
                      <a:pt x="1002" y="664"/>
                      <a:pt x="1006" y="707"/>
                    </a:cubicBezTo>
                    <a:cubicBezTo>
                      <a:pt x="1016" y="809"/>
                      <a:pt x="1075" y="906"/>
                      <a:pt x="1161" y="963"/>
                    </a:cubicBezTo>
                    <a:cubicBezTo>
                      <a:pt x="1153" y="805"/>
                      <a:pt x="1134" y="656"/>
                      <a:pt x="1134" y="497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9" name="Google Shape;609;p54"/>
            <p:cNvSpPr/>
            <p:nvPr/>
          </p:nvSpPr>
          <p:spPr>
            <a:xfrm>
              <a:off x="703" y="2795"/>
              <a:ext cx="363" cy="454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4"/>
            <p:cNvSpPr/>
            <p:nvPr/>
          </p:nvSpPr>
          <p:spPr>
            <a:xfrm rot="10800000">
              <a:off x="4513" y="2795"/>
              <a:ext cx="363" cy="454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54"/>
            <p:cNvSpPr txBox="1"/>
            <p:nvPr/>
          </p:nvSpPr>
          <p:spPr>
            <a:xfrm>
              <a:off x="340" y="3430"/>
              <a:ext cx="1179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Modulador </a:t>
              </a:r>
              <a:endParaRPr/>
            </a:p>
          </p:txBody>
        </p:sp>
        <p:sp>
          <p:nvSpPr>
            <p:cNvPr id="612" name="Google Shape;612;p54"/>
            <p:cNvSpPr txBox="1"/>
            <p:nvPr/>
          </p:nvSpPr>
          <p:spPr>
            <a:xfrm>
              <a:off x="4150" y="3430"/>
              <a:ext cx="1179" cy="23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Demodulador  </a:t>
              </a:r>
              <a:endParaRPr/>
            </a:p>
          </p:txBody>
        </p:sp>
        <p:sp>
          <p:nvSpPr>
            <p:cNvPr id="613" name="Google Shape;613;p54"/>
            <p:cNvSpPr/>
            <p:nvPr/>
          </p:nvSpPr>
          <p:spPr>
            <a:xfrm>
              <a:off x="1610" y="3521"/>
              <a:ext cx="2449" cy="136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54"/>
            <p:cNvSpPr txBox="1"/>
            <p:nvPr/>
          </p:nvSpPr>
          <p:spPr>
            <a:xfrm>
              <a:off x="2064" y="3838"/>
              <a:ext cx="176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Canal analógico</a:t>
              </a:r>
              <a:endParaRPr/>
            </a:p>
          </p:txBody>
        </p:sp>
        <p:sp>
          <p:nvSpPr>
            <p:cNvPr id="615" name="Google Shape;615;p54"/>
            <p:cNvSpPr txBox="1"/>
            <p:nvPr/>
          </p:nvSpPr>
          <p:spPr>
            <a:xfrm>
              <a:off x="2109" y="2115"/>
              <a:ext cx="117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Sinal analógico</a:t>
              </a:r>
              <a:endParaRPr/>
            </a:p>
          </p:txBody>
        </p:sp>
        <p:sp>
          <p:nvSpPr>
            <p:cNvPr id="616" name="Google Shape;616;p54"/>
            <p:cNvSpPr txBox="1"/>
            <p:nvPr/>
          </p:nvSpPr>
          <p:spPr>
            <a:xfrm>
              <a:off x="1111" y="2976"/>
              <a:ext cx="158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Sinal digital</a:t>
              </a:r>
              <a:endParaRPr/>
            </a:p>
          </p:txBody>
        </p:sp>
        <p:sp>
          <p:nvSpPr>
            <p:cNvPr id="617" name="Google Shape;617;p54"/>
            <p:cNvSpPr txBox="1"/>
            <p:nvPr/>
          </p:nvSpPr>
          <p:spPr>
            <a:xfrm>
              <a:off x="3788" y="3022"/>
              <a:ext cx="158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Sinal digital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Transmissão em série X transmissão paralela</a:t>
            </a:r>
            <a:endParaRPr/>
          </a:p>
        </p:txBody>
      </p:sp>
      <p:sp>
        <p:nvSpPr>
          <p:cNvPr id="623" name="Google Shape;623;p55"/>
          <p:cNvSpPr txBox="1"/>
          <p:nvPr>
            <p:ph idx="1" type="body"/>
          </p:nvPr>
        </p:nvSpPr>
        <p:spPr>
          <a:xfrm>
            <a:off x="685800" y="1844675"/>
            <a:ext cx="791845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92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Transmissão paralela: o transmissor envia todos os 8 bits de dados de uma só vez para o receptor. </a:t>
            </a:r>
            <a:endParaRPr/>
          </a:p>
          <a:p>
            <a:pPr indent="-349250" lvl="0" marL="34925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Os dois dispositivos devem ser capazes de “falar” a mesma quantidade de bits. </a:t>
            </a:r>
            <a:endParaRPr/>
          </a:p>
          <a:p>
            <a:pPr indent="-349250" lvl="0" marL="34925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Este método era utilizado nas ligações internas dos computadores, e ligações entre o computador e periféricos próximos. Ex: Impressoras paralelas, Hard disks, floppy disks, etc.</a:t>
            </a:r>
            <a:endParaRPr/>
          </a:p>
          <a:p>
            <a:pPr indent="-349250" lvl="0" marL="34925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640"/>
              <a:buFont typeface="Noto Sans Symbols"/>
              <a:buChar char="⚫"/>
            </a:pPr>
            <a:r>
              <a:rPr b="0" i="0" lang="en-US" sz="24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 transmissão paralela há necessidade de um fio para cada bit transmitido e pode ocorrer interferência.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Transmissão paralela</a:t>
            </a:r>
            <a:endParaRPr/>
          </a:p>
        </p:txBody>
      </p:sp>
      <p:sp>
        <p:nvSpPr>
          <p:cNvPr id="629" name="Google Shape;629;p56"/>
          <p:cNvSpPr txBox="1"/>
          <p:nvPr/>
        </p:nvSpPr>
        <p:spPr>
          <a:xfrm>
            <a:off x="755650" y="2232025"/>
            <a:ext cx="1655762" cy="28527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Transmissor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30" name="Google Shape;630;p56"/>
          <p:cNvGraphicFramePr/>
          <p:nvPr/>
        </p:nvGraphicFramePr>
        <p:xfrm>
          <a:off x="2628900" y="234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{017B3E28-44B8-420F-8F5F-BB1E452096A5}</a:tableStyleId>
              </a:tblPr>
              <a:tblGrid>
                <a:gridCol w="273050"/>
              </a:tblGrid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1" name="Google Shape;631;p56"/>
          <p:cNvSpPr txBox="1"/>
          <p:nvPr/>
        </p:nvSpPr>
        <p:spPr>
          <a:xfrm>
            <a:off x="2987675" y="2363787"/>
            <a:ext cx="46355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D0</a:t>
            </a:r>
            <a:endParaRPr/>
          </a:p>
        </p:txBody>
      </p:sp>
      <p:cxnSp>
        <p:nvCxnSpPr>
          <p:cNvPr id="632" name="Google Shape;632;p56"/>
          <p:cNvCxnSpPr/>
          <p:nvPr/>
        </p:nvCxnSpPr>
        <p:spPr>
          <a:xfrm>
            <a:off x="3492500" y="2566987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3" name="Google Shape;633;p56"/>
          <p:cNvCxnSpPr/>
          <p:nvPr/>
        </p:nvCxnSpPr>
        <p:spPr>
          <a:xfrm>
            <a:off x="3492500" y="2890837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4" name="Google Shape;634;p56"/>
          <p:cNvCxnSpPr/>
          <p:nvPr/>
        </p:nvCxnSpPr>
        <p:spPr>
          <a:xfrm>
            <a:off x="3492500" y="3170237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5" name="Google Shape;635;p56"/>
          <p:cNvCxnSpPr/>
          <p:nvPr/>
        </p:nvCxnSpPr>
        <p:spPr>
          <a:xfrm>
            <a:off x="3492500" y="4602162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6" name="Google Shape;636;p56"/>
          <p:cNvCxnSpPr/>
          <p:nvPr/>
        </p:nvCxnSpPr>
        <p:spPr>
          <a:xfrm>
            <a:off x="3492500" y="3476625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7" name="Google Shape;637;p56"/>
          <p:cNvCxnSpPr/>
          <p:nvPr/>
        </p:nvCxnSpPr>
        <p:spPr>
          <a:xfrm>
            <a:off x="3492500" y="3810000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8" name="Google Shape;638;p56"/>
          <p:cNvCxnSpPr/>
          <p:nvPr/>
        </p:nvCxnSpPr>
        <p:spPr>
          <a:xfrm>
            <a:off x="3492500" y="3998912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39" name="Google Shape;639;p56"/>
          <p:cNvCxnSpPr/>
          <p:nvPr/>
        </p:nvCxnSpPr>
        <p:spPr>
          <a:xfrm>
            <a:off x="3492500" y="4287837"/>
            <a:ext cx="15128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40" name="Google Shape;640;p56"/>
          <p:cNvSpPr txBox="1"/>
          <p:nvPr/>
        </p:nvSpPr>
        <p:spPr>
          <a:xfrm>
            <a:off x="5146675" y="2255837"/>
            <a:ext cx="46355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D0</a:t>
            </a:r>
            <a:endParaRPr/>
          </a:p>
        </p:txBody>
      </p:sp>
      <p:sp>
        <p:nvSpPr>
          <p:cNvPr id="641" name="Google Shape;641;p56"/>
          <p:cNvSpPr txBox="1"/>
          <p:nvPr/>
        </p:nvSpPr>
        <p:spPr>
          <a:xfrm>
            <a:off x="6443662" y="2171700"/>
            <a:ext cx="1655762" cy="28527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Receptor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42" name="Google Shape;642;p56"/>
          <p:cNvGraphicFramePr/>
          <p:nvPr/>
        </p:nvGraphicFramePr>
        <p:xfrm>
          <a:off x="5651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{017B3E28-44B8-420F-8F5F-BB1E452096A5}</a:tableStyleId>
              </a:tblPr>
              <a:tblGrid>
                <a:gridCol w="273050"/>
              </a:tblGrid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7"/>
          <p:cNvSpPr txBox="1"/>
          <p:nvPr>
            <p:ph type="title"/>
          </p:nvPr>
        </p:nvSpPr>
        <p:spPr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Garamond"/>
              <a:buNone/>
            </a:pPr>
            <a:r>
              <a:rPr b="0" i="0" lang="en-US" sz="4600" u="none">
                <a:solidFill>
                  <a:schemeClr val="accent1"/>
                </a:solidFill>
                <a:latin typeface="Garamond"/>
                <a:ea typeface="Garamond"/>
                <a:cs typeface="Garamond"/>
                <a:sym typeface="Garamond"/>
              </a:rPr>
              <a:t>Transmissão em série</a:t>
            </a:r>
            <a:endParaRPr/>
          </a:p>
        </p:txBody>
      </p:sp>
      <p:sp>
        <p:nvSpPr>
          <p:cNvPr id="648" name="Google Shape;648;p57"/>
          <p:cNvSpPr txBox="1"/>
          <p:nvPr>
            <p:ph idx="1" type="body"/>
          </p:nvPr>
        </p:nvSpPr>
        <p:spPr>
          <a:xfrm>
            <a:off x="685800" y="1196975"/>
            <a:ext cx="7702550" cy="159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7640" lvl="0" marL="34925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349250" marR="0" rtl="0" algn="just">
              <a:lnSpc>
                <a:spcPct val="70000"/>
              </a:lnSpc>
              <a:spcBef>
                <a:spcPts val="2000"/>
              </a:spcBef>
              <a:spcAft>
                <a:spcPts val="0"/>
              </a:spcAft>
              <a:buClr>
                <a:srgbClr val="6FB7D7"/>
              </a:buClr>
              <a:buSzPts val="2860"/>
              <a:buFont typeface="Noto Sans Symbols"/>
              <a:buChar char="⚫"/>
            </a:pPr>
            <a:r>
              <a:rPr b="0" i="0" lang="en-US" sz="260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Transmissão em série: é necessário somente um fio para transmitir dos dados. Os bits são transmitidos um a um. </a:t>
            </a:r>
            <a:endParaRPr/>
          </a:p>
        </p:txBody>
      </p:sp>
      <p:sp>
        <p:nvSpPr>
          <p:cNvPr id="649" name="Google Shape;649;p57"/>
          <p:cNvSpPr txBox="1"/>
          <p:nvPr/>
        </p:nvSpPr>
        <p:spPr>
          <a:xfrm>
            <a:off x="1042987" y="3284537"/>
            <a:ext cx="1657350" cy="28527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0" name="Google Shape;650;p57"/>
          <p:cNvCxnSpPr/>
          <p:nvPr/>
        </p:nvCxnSpPr>
        <p:spPr>
          <a:xfrm rot="10800000">
            <a:off x="3492500" y="3284537"/>
            <a:ext cx="0" cy="20161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51" name="Google Shape;651;p57"/>
          <p:cNvCxnSpPr/>
          <p:nvPr/>
        </p:nvCxnSpPr>
        <p:spPr>
          <a:xfrm>
            <a:off x="3059112" y="4797425"/>
            <a:ext cx="39608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52" name="Google Shape;652;p57"/>
          <p:cNvCxnSpPr/>
          <p:nvPr/>
        </p:nvCxnSpPr>
        <p:spPr>
          <a:xfrm>
            <a:off x="3492500" y="4365625"/>
            <a:ext cx="358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3" name="Google Shape;653;p57"/>
          <p:cNvCxnSpPr/>
          <p:nvPr/>
        </p:nvCxnSpPr>
        <p:spPr>
          <a:xfrm>
            <a:off x="3851275" y="43656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4" name="Google Shape;654;p57"/>
          <p:cNvCxnSpPr/>
          <p:nvPr/>
        </p:nvCxnSpPr>
        <p:spPr>
          <a:xfrm>
            <a:off x="3851275" y="4652962"/>
            <a:ext cx="4333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5" name="Google Shape;655;p57"/>
          <p:cNvCxnSpPr/>
          <p:nvPr/>
        </p:nvCxnSpPr>
        <p:spPr>
          <a:xfrm>
            <a:off x="4284662" y="43656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6" name="Google Shape;656;p57"/>
          <p:cNvCxnSpPr/>
          <p:nvPr/>
        </p:nvCxnSpPr>
        <p:spPr>
          <a:xfrm>
            <a:off x="4284662" y="4365625"/>
            <a:ext cx="358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7" name="Google Shape;657;p57"/>
          <p:cNvCxnSpPr/>
          <p:nvPr/>
        </p:nvCxnSpPr>
        <p:spPr>
          <a:xfrm>
            <a:off x="4643437" y="43656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8" name="Google Shape;658;p57"/>
          <p:cNvCxnSpPr/>
          <p:nvPr/>
        </p:nvCxnSpPr>
        <p:spPr>
          <a:xfrm>
            <a:off x="4643437" y="4652962"/>
            <a:ext cx="4333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9" name="Google Shape;659;p57"/>
          <p:cNvCxnSpPr/>
          <p:nvPr/>
        </p:nvCxnSpPr>
        <p:spPr>
          <a:xfrm>
            <a:off x="5076825" y="43656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0" name="Google Shape;660;p57"/>
          <p:cNvCxnSpPr/>
          <p:nvPr/>
        </p:nvCxnSpPr>
        <p:spPr>
          <a:xfrm>
            <a:off x="5076825" y="4365625"/>
            <a:ext cx="9350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1" name="Google Shape;661;p57"/>
          <p:cNvCxnSpPr/>
          <p:nvPr/>
        </p:nvCxnSpPr>
        <p:spPr>
          <a:xfrm>
            <a:off x="6011862" y="4365625"/>
            <a:ext cx="0" cy="287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2" name="Google Shape;662;p57"/>
          <p:cNvCxnSpPr/>
          <p:nvPr/>
        </p:nvCxnSpPr>
        <p:spPr>
          <a:xfrm>
            <a:off x="6010275" y="4652962"/>
            <a:ext cx="4333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63" name="Google Shape;663;p57"/>
          <p:cNvSpPr txBox="1"/>
          <p:nvPr/>
        </p:nvSpPr>
        <p:spPr>
          <a:xfrm>
            <a:off x="3543300" y="431482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4" name="Google Shape;664;p57"/>
          <p:cNvSpPr txBox="1"/>
          <p:nvPr/>
        </p:nvSpPr>
        <p:spPr>
          <a:xfrm>
            <a:off x="3903662" y="431482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65" name="Google Shape;665;p57"/>
          <p:cNvSpPr txBox="1"/>
          <p:nvPr/>
        </p:nvSpPr>
        <p:spPr>
          <a:xfrm>
            <a:off x="4264025" y="431482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6" name="Google Shape;666;p57"/>
          <p:cNvSpPr txBox="1"/>
          <p:nvPr/>
        </p:nvSpPr>
        <p:spPr>
          <a:xfrm>
            <a:off x="4695825" y="4286250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67" name="Google Shape;667;p57"/>
          <p:cNvSpPr txBox="1"/>
          <p:nvPr/>
        </p:nvSpPr>
        <p:spPr>
          <a:xfrm>
            <a:off x="5083175" y="4357687"/>
            <a:ext cx="869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1   1   1</a:t>
            </a:r>
            <a:endParaRPr/>
          </a:p>
        </p:txBody>
      </p:sp>
      <p:sp>
        <p:nvSpPr>
          <p:cNvPr id="668" name="Google Shape;668;p57"/>
          <p:cNvSpPr txBox="1"/>
          <p:nvPr/>
        </p:nvSpPr>
        <p:spPr>
          <a:xfrm>
            <a:off x="5992812" y="431482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69" name="Google Shape;669;p57"/>
          <p:cNvSpPr txBox="1"/>
          <p:nvPr/>
        </p:nvSpPr>
        <p:spPr>
          <a:xfrm>
            <a:off x="7235825" y="3284537"/>
            <a:ext cx="1657350" cy="28527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Receptor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0" name="Google Shape;670;p57"/>
          <p:cNvCxnSpPr/>
          <p:nvPr/>
        </p:nvCxnSpPr>
        <p:spPr>
          <a:xfrm>
            <a:off x="2771775" y="5661025"/>
            <a:ext cx="42481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eeze">
  <a:themeElements>
    <a:clrScheme name="Breeze">
      <a:dk1>
        <a:srgbClr val="000000"/>
      </a:dk1>
      <a:lt1>
        <a:srgbClr val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reeze">
  <a:themeElements>
    <a:clrScheme name="Breeze">
      <a:dk1>
        <a:srgbClr val="000000"/>
      </a:dk1>
      <a:lt1>
        <a:srgbClr val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