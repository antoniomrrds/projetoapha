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4" r:id="rId4"/>
    <p:sldMasterId id="2147483665" r:id="rId5"/>
    <p:sldMasterId id="2147483666" r:id="rId6"/>
    <p:sldMasterId id="2147483667" r:id="rId7"/>
    <p:sldMasterId id="2147483668" r:id="rId8"/>
    <p:sldMasterId id="2147483669" r:id="rId9"/>
    <p:sldMasterId id="2147483670" r:id="rId10"/>
  </p:sldMasterIdLst>
  <p:notesMasterIdLst>
    <p:notesMasterId r:id="rId1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99">
          <p15:clr>
            <a:srgbClr val="000000"/>
          </p15:clr>
        </p15:guide>
        <p15:guide id="2" pos="295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99" orient="horz"/>
        <p:guide pos="29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9.xml"/><Relationship Id="rId42" Type="http://schemas.openxmlformats.org/officeDocument/2006/relationships/slide" Target="slides/slide31.xml"/><Relationship Id="rId41" Type="http://schemas.openxmlformats.org/officeDocument/2006/relationships/slide" Target="slides/slide30.xml"/><Relationship Id="rId44" Type="http://schemas.openxmlformats.org/officeDocument/2006/relationships/slide" Target="slides/slide33.xml"/><Relationship Id="rId43" Type="http://schemas.openxmlformats.org/officeDocument/2006/relationships/slide" Target="slides/slide32.xml"/><Relationship Id="rId46" Type="http://schemas.openxmlformats.org/officeDocument/2006/relationships/slide" Target="slides/slide35.xml"/><Relationship Id="rId45" Type="http://schemas.openxmlformats.org/officeDocument/2006/relationships/slide" Target="slides/slide34.xml"/><Relationship Id="rId1" Type="http://schemas.openxmlformats.org/officeDocument/2006/relationships/theme" Target="theme/theme7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48" Type="http://schemas.openxmlformats.org/officeDocument/2006/relationships/slide" Target="slides/slide37.xml"/><Relationship Id="rId47" Type="http://schemas.openxmlformats.org/officeDocument/2006/relationships/slide" Target="slides/slide36.xml"/><Relationship Id="rId49" Type="http://schemas.openxmlformats.org/officeDocument/2006/relationships/slide" Target="slides/slide38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20.xml"/><Relationship Id="rId30" Type="http://schemas.openxmlformats.org/officeDocument/2006/relationships/slide" Target="slides/slide19.xml"/><Relationship Id="rId33" Type="http://schemas.openxmlformats.org/officeDocument/2006/relationships/slide" Target="slides/slide22.xml"/><Relationship Id="rId32" Type="http://schemas.openxmlformats.org/officeDocument/2006/relationships/slide" Target="slides/slide21.xml"/><Relationship Id="rId35" Type="http://schemas.openxmlformats.org/officeDocument/2006/relationships/slide" Target="slides/slide24.xml"/><Relationship Id="rId34" Type="http://schemas.openxmlformats.org/officeDocument/2006/relationships/slide" Target="slides/slide23.xml"/><Relationship Id="rId37" Type="http://schemas.openxmlformats.org/officeDocument/2006/relationships/slide" Target="slides/slide26.xml"/><Relationship Id="rId36" Type="http://schemas.openxmlformats.org/officeDocument/2006/relationships/slide" Target="slides/slide25.xml"/><Relationship Id="rId39" Type="http://schemas.openxmlformats.org/officeDocument/2006/relationships/slide" Target="slides/slide28.xml"/><Relationship Id="rId38" Type="http://schemas.openxmlformats.org/officeDocument/2006/relationships/slide" Target="slides/slide27.xml"/><Relationship Id="rId20" Type="http://schemas.openxmlformats.org/officeDocument/2006/relationships/slide" Target="slides/slide9.xml"/><Relationship Id="rId22" Type="http://schemas.openxmlformats.org/officeDocument/2006/relationships/slide" Target="slides/slide11.xml"/><Relationship Id="rId21" Type="http://schemas.openxmlformats.org/officeDocument/2006/relationships/slide" Target="slides/slide10.xml"/><Relationship Id="rId24" Type="http://schemas.openxmlformats.org/officeDocument/2006/relationships/slide" Target="slides/slide13.xml"/><Relationship Id="rId23" Type="http://schemas.openxmlformats.org/officeDocument/2006/relationships/slide" Target="slides/slide12.xml"/><Relationship Id="rId26" Type="http://schemas.openxmlformats.org/officeDocument/2006/relationships/slide" Target="slides/slide15.xml"/><Relationship Id="rId25" Type="http://schemas.openxmlformats.org/officeDocument/2006/relationships/slide" Target="slides/slide14.xml"/><Relationship Id="rId28" Type="http://schemas.openxmlformats.org/officeDocument/2006/relationships/slide" Target="slides/slide17.xml"/><Relationship Id="rId27" Type="http://schemas.openxmlformats.org/officeDocument/2006/relationships/slide" Target="slides/slide16.xml"/><Relationship Id="rId29" Type="http://schemas.openxmlformats.org/officeDocument/2006/relationships/slide" Target="slides/slide18.xml"/><Relationship Id="rId51" Type="http://schemas.openxmlformats.org/officeDocument/2006/relationships/slide" Target="slides/slide40.xml"/><Relationship Id="rId50" Type="http://schemas.openxmlformats.org/officeDocument/2006/relationships/slide" Target="slides/slide39.xml"/><Relationship Id="rId53" Type="http://schemas.openxmlformats.org/officeDocument/2006/relationships/slide" Target="slides/slide42.xml"/><Relationship Id="rId52" Type="http://schemas.openxmlformats.org/officeDocument/2006/relationships/slide" Target="slides/slide41.xml"/><Relationship Id="rId11" Type="http://schemas.openxmlformats.org/officeDocument/2006/relationships/notesMaster" Target="notesMasters/notesMaster1.xml"/><Relationship Id="rId55" Type="http://schemas.openxmlformats.org/officeDocument/2006/relationships/slide" Target="slides/slide44.xml"/><Relationship Id="rId10" Type="http://schemas.openxmlformats.org/officeDocument/2006/relationships/slideMaster" Target="slideMasters/slideMaster7.xml"/><Relationship Id="rId54" Type="http://schemas.openxmlformats.org/officeDocument/2006/relationships/slide" Target="slides/slide43.xml"/><Relationship Id="rId13" Type="http://schemas.openxmlformats.org/officeDocument/2006/relationships/slide" Target="slides/slide2.xml"/><Relationship Id="rId12" Type="http://schemas.openxmlformats.org/officeDocument/2006/relationships/slide" Target="slides/slide1.xml"/><Relationship Id="rId56" Type="http://schemas.openxmlformats.org/officeDocument/2006/relationships/slide" Target="slides/slide45.xml"/><Relationship Id="rId15" Type="http://schemas.openxmlformats.org/officeDocument/2006/relationships/slide" Target="slides/slide4.xml"/><Relationship Id="rId14" Type="http://schemas.openxmlformats.org/officeDocument/2006/relationships/slide" Target="slides/slide3.xml"/><Relationship Id="rId17" Type="http://schemas.openxmlformats.org/officeDocument/2006/relationships/slide" Target="slides/slide6.xml"/><Relationship Id="rId16" Type="http://schemas.openxmlformats.org/officeDocument/2006/relationships/slide" Target="slides/slide5.xml"/><Relationship Id="rId19" Type="http://schemas.openxmlformats.org/officeDocument/2006/relationships/slide" Target="slides/slide8.xml"/><Relationship Id="rId18" Type="http://schemas.openxmlformats.org/officeDocument/2006/relationships/slide" Target="slides/slide7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>
  <p:cSld name="CAPA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1619672" y="4301516"/>
            <a:ext cx="72008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95E7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1619672" y="5124381"/>
            <a:ext cx="7200800" cy="968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SzPts val="3200"/>
              <a:buNone/>
              <a:defRPr b="1"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530"/>
              <a:buChar char="o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2" type="body"/>
          </p:nvPr>
        </p:nvSpPr>
        <p:spPr>
          <a:xfrm>
            <a:off x="1619250" y="6092825"/>
            <a:ext cx="72009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30200" lvl="0" marL="457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25755" lvl="2" marL="1371600" algn="l">
              <a:spcBef>
                <a:spcPts val="360"/>
              </a:spcBef>
              <a:spcAft>
                <a:spcPts val="0"/>
              </a:spcAft>
              <a:buSzPts val="1530"/>
              <a:buChar char="o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_com_Linha">
  <p:cSld name="Slide_com_Linha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idx="1" type="body"/>
          </p:nvPr>
        </p:nvSpPr>
        <p:spPr>
          <a:xfrm>
            <a:off x="468313" y="1268760"/>
            <a:ext cx="8351837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25755" lvl="2" marL="1371600" algn="l">
              <a:spcBef>
                <a:spcPts val="360"/>
              </a:spcBef>
              <a:spcAft>
                <a:spcPts val="0"/>
              </a:spcAft>
              <a:buSzPts val="1530"/>
              <a:buChar char="o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468313" y="117426"/>
            <a:ext cx="6984304" cy="10081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rgbClr val="295E7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F4D5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íntese">
  <p:cSld name="Síntes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67544" y="535083"/>
            <a:ext cx="849662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68313" y="1268413"/>
            <a:ext cx="8496300" cy="504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>
                <a:solidFill>
                  <a:schemeClr val="lt1"/>
                </a:solidFill>
              </a:defRPr>
            </a:lvl1pPr>
            <a:lvl2pPr indent="-419100" lvl="1" marL="91440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  <a:defRPr>
                <a:solidFill>
                  <a:schemeClr val="lt1"/>
                </a:solidFill>
              </a:defRPr>
            </a:lvl2pPr>
            <a:lvl3pPr indent="-379730" lvl="2" marL="13716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380"/>
              <a:buChar char="o"/>
              <a:defRPr>
                <a:solidFill>
                  <a:schemeClr val="lt1"/>
                </a:solidFill>
              </a:defRPr>
            </a:lvl3pPr>
            <a:lvl4pPr indent="-393700" lvl="3" marL="1828800" algn="l">
              <a:spcBef>
                <a:spcPts val="520"/>
              </a:spcBef>
              <a:spcAft>
                <a:spcPts val="0"/>
              </a:spcAft>
              <a:buClr>
                <a:schemeClr val="lt1"/>
              </a:buClr>
              <a:buSzPts val="2600"/>
              <a:buChar char="▪"/>
              <a:defRPr>
                <a:solidFill>
                  <a:schemeClr val="lt1"/>
                </a:solidFill>
              </a:defRPr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5" name="Google Shape;85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6" name="Google Shape;86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7" name="Google Shape;87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8" name="Google Shape;8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4" name="Google Shape;94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5" name="Google Shape;9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3" name="Google Shape;113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resentação - Objetivo">
  <p:cSld name="Apresentação - Objetivo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469100" y="540763"/>
            <a:ext cx="849662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468313" y="1268413"/>
            <a:ext cx="8496300" cy="5256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>
                <a:solidFill>
                  <a:schemeClr val="lt1"/>
                </a:solidFill>
              </a:defRPr>
            </a:lvl1pPr>
            <a:lvl2pPr indent="-419100" lvl="1" marL="91440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  <a:defRPr>
                <a:solidFill>
                  <a:schemeClr val="lt1"/>
                </a:solidFill>
              </a:defRPr>
            </a:lvl2pPr>
            <a:lvl3pPr indent="-379730" lvl="2" marL="13716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380"/>
              <a:buChar char="o"/>
              <a:defRPr>
                <a:solidFill>
                  <a:schemeClr val="lt1"/>
                </a:solidFill>
              </a:defRPr>
            </a:lvl3pPr>
            <a:lvl4pPr indent="-393700" lvl="3" marL="1828800" algn="l">
              <a:spcBef>
                <a:spcPts val="520"/>
              </a:spcBef>
              <a:spcAft>
                <a:spcPts val="0"/>
              </a:spcAft>
              <a:buClr>
                <a:schemeClr val="lt1"/>
              </a:buClr>
              <a:buSzPts val="2600"/>
              <a:buChar char="▪"/>
              <a:defRPr>
                <a:solidFill>
                  <a:schemeClr val="lt1"/>
                </a:solidFill>
              </a:defRPr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_sem_Linha">
  <p:cSld name="Slide_sem_Linha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468312" y="1268760"/>
            <a:ext cx="8351837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25755" lvl="2" marL="1371600" algn="l">
              <a:spcBef>
                <a:spcPts val="360"/>
              </a:spcBef>
              <a:spcAft>
                <a:spcPts val="0"/>
              </a:spcAft>
              <a:buSzPts val="1530"/>
              <a:buChar char="o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type="title"/>
          </p:nvPr>
        </p:nvSpPr>
        <p:spPr>
          <a:xfrm>
            <a:off x="467544" y="116632"/>
            <a:ext cx="6984304" cy="10081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rgbClr val="295E7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12" type="sldNum"/>
          </p:nvPr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theme" Target="../theme/theme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8.jpg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5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2" Type="http://schemas.openxmlformats.org/officeDocument/2006/relationships/theme" Target="../theme/theme8.xml"/><Relationship Id="rId9" Type="http://schemas.openxmlformats.org/officeDocument/2006/relationships/slideLayout" Target="../slideLayouts/slideLayout12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5.xml"/><Relationship Id="rId4" Type="http://schemas.openxmlformats.org/officeDocument/2006/relationships/theme" Target="../theme/theme3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6.xml"/><Relationship Id="rId3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4900" y="4279900"/>
            <a:ext cx="431800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1616" y="0"/>
            <a:ext cx="2322384" cy="252353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/>
          <p:nvPr>
            <p:ph type="title"/>
          </p:nvPr>
        </p:nvSpPr>
        <p:spPr>
          <a:xfrm>
            <a:off x="468312" y="115887"/>
            <a:ext cx="6983412" cy="10096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468312" y="1268412"/>
            <a:ext cx="8496300" cy="5068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4F4D52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9730" lvl="2" marL="1371600" marR="0" rtl="0" algn="l">
              <a:spcBef>
                <a:spcPts val="560"/>
              </a:spcBef>
              <a:spcAft>
                <a:spcPts val="0"/>
              </a:spcAft>
              <a:buClr>
                <a:srgbClr val="4F4D52"/>
              </a:buClr>
              <a:buSzPts val="2380"/>
              <a:buFont typeface="Courier New"/>
              <a:buChar char="o"/>
              <a:defRPr b="0" i="0" sz="28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marR="0" rtl="0" algn="l">
              <a:spcBef>
                <a:spcPts val="520"/>
              </a:spcBef>
              <a:spcAft>
                <a:spcPts val="0"/>
              </a:spcAft>
              <a:buClr>
                <a:srgbClr val="4F4D52"/>
              </a:buClr>
              <a:buSzPts val="2600"/>
              <a:buFont typeface="Noto Sans Symbols"/>
              <a:buChar char="▪"/>
              <a:defRPr b="0" i="0" sz="26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Noto Sans Symbols"/>
              <a:buChar char="■"/>
              <a:defRPr b="0" i="0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🢝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36512" y="6089650"/>
            <a:ext cx="9185275" cy="76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9000" y="0"/>
            <a:ext cx="1920875" cy="920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type="title"/>
          </p:nvPr>
        </p:nvSpPr>
        <p:spPr>
          <a:xfrm>
            <a:off x="468312" y="115887"/>
            <a:ext cx="6983412" cy="10096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468312" y="1268412"/>
            <a:ext cx="8496300" cy="5068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4F4D52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9730" lvl="2" marL="1371600" marR="0" rtl="0" algn="l">
              <a:spcBef>
                <a:spcPts val="560"/>
              </a:spcBef>
              <a:spcAft>
                <a:spcPts val="0"/>
              </a:spcAft>
              <a:buClr>
                <a:srgbClr val="4F4D52"/>
              </a:buClr>
              <a:buSzPts val="2380"/>
              <a:buFont typeface="Courier New"/>
              <a:buChar char="o"/>
              <a:defRPr b="0" i="0" sz="28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marR="0" rtl="0" algn="l">
              <a:spcBef>
                <a:spcPts val="520"/>
              </a:spcBef>
              <a:spcAft>
                <a:spcPts val="0"/>
              </a:spcAft>
              <a:buClr>
                <a:srgbClr val="4F4D52"/>
              </a:buClr>
              <a:buSzPts val="2600"/>
              <a:buFont typeface="Noto Sans Symbols"/>
              <a:buChar char="▪"/>
              <a:defRPr b="0" i="0" sz="26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Noto Sans Symbols"/>
              <a:buChar char="■"/>
              <a:defRPr b="0" i="0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🢝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</a:endParaRPr>
          </a:p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468312" y="115887"/>
            <a:ext cx="6983412" cy="10096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468312" y="1268412"/>
            <a:ext cx="8496300" cy="5068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4F4D52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9730" lvl="2" marL="1371600" marR="0" rtl="0" algn="l">
              <a:spcBef>
                <a:spcPts val="560"/>
              </a:spcBef>
              <a:spcAft>
                <a:spcPts val="0"/>
              </a:spcAft>
              <a:buClr>
                <a:srgbClr val="4F4D52"/>
              </a:buClr>
              <a:buSzPts val="2380"/>
              <a:buFont typeface="Courier New"/>
              <a:buChar char="o"/>
              <a:defRPr b="0" i="0" sz="28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marR="0" rtl="0" algn="l">
              <a:spcBef>
                <a:spcPts val="520"/>
              </a:spcBef>
              <a:spcAft>
                <a:spcPts val="0"/>
              </a:spcAft>
              <a:buClr>
                <a:srgbClr val="4F4D52"/>
              </a:buClr>
              <a:buSzPts val="2600"/>
              <a:buFont typeface="Noto Sans Symbols"/>
              <a:buChar char="▪"/>
              <a:defRPr b="0" i="0" sz="26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Noto Sans Symbols"/>
              <a:buChar char="■"/>
              <a:defRPr b="0" i="0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🢝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68312" y="115887"/>
            <a:ext cx="6983412" cy="10096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68312" y="1268412"/>
            <a:ext cx="8496300" cy="5068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4F4D52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9730" lvl="2" marL="1371600" marR="0" rtl="0" algn="l">
              <a:spcBef>
                <a:spcPts val="560"/>
              </a:spcBef>
              <a:spcAft>
                <a:spcPts val="0"/>
              </a:spcAft>
              <a:buClr>
                <a:srgbClr val="4F4D52"/>
              </a:buClr>
              <a:buSzPts val="2380"/>
              <a:buFont typeface="Courier New"/>
              <a:buChar char="o"/>
              <a:defRPr b="0" i="0" sz="28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marR="0" rtl="0" algn="l">
              <a:spcBef>
                <a:spcPts val="520"/>
              </a:spcBef>
              <a:spcAft>
                <a:spcPts val="0"/>
              </a:spcAft>
              <a:buClr>
                <a:srgbClr val="4F4D52"/>
              </a:buClr>
              <a:buSzPts val="2600"/>
              <a:buFont typeface="Noto Sans Symbols"/>
              <a:buChar char="▪"/>
              <a:defRPr b="0" i="0" sz="26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Noto Sans Symbols"/>
              <a:buChar char="■"/>
              <a:defRPr b="0" i="0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🢝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1" type="ftr"/>
          </p:nvPr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2087" y="5300662"/>
            <a:ext cx="936625" cy="119221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>
            <p:ph type="title"/>
          </p:nvPr>
        </p:nvSpPr>
        <p:spPr>
          <a:xfrm>
            <a:off x="468312" y="115887"/>
            <a:ext cx="6983412" cy="10096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468312" y="1268412"/>
            <a:ext cx="8496300" cy="5068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4F4D52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9730" lvl="2" marL="1371600" marR="0" rtl="0" algn="l">
              <a:spcBef>
                <a:spcPts val="560"/>
              </a:spcBef>
              <a:spcAft>
                <a:spcPts val="0"/>
              </a:spcAft>
              <a:buClr>
                <a:srgbClr val="4F4D52"/>
              </a:buClr>
              <a:buSzPts val="2380"/>
              <a:buFont typeface="Courier New"/>
              <a:buChar char="o"/>
              <a:defRPr b="0" i="0" sz="28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marR="0" rtl="0" algn="l">
              <a:spcBef>
                <a:spcPts val="520"/>
              </a:spcBef>
              <a:spcAft>
                <a:spcPts val="0"/>
              </a:spcAft>
              <a:buClr>
                <a:srgbClr val="4F4D52"/>
              </a:buClr>
              <a:buSzPts val="2600"/>
              <a:buFont typeface="Noto Sans Symbols"/>
              <a:buChar char="▪"/>
              <a:defRPr b="0" i="0" sz="26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Noto Sans Symbols"/>
              <a:buChar char="■"/>
              <a:defRPr b="0" i="0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🢝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239000" y="0"/>
            <a:ext cx="1920875" cy="92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2"/>
          <p:cNvSpPr txBox="1"/>
          <p:nvPr>
            <p:ph type="title"/>
          </p:nvPr>
        </p:nvSpPr>
        <p:spPr>
          <a:xfrm>
            <a:off x="468312" y="115887"/>
            <a:ext cx="6983412" cy="10096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468312" y="1268412"/>
            <a:ext cx="8496300" cy="5068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4F4D52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9730" lvl="2" marL="1371600" marR="0" rtl="0" algn="l">
              <a:spcBef>
                <a:spcPts val="560"/>
              </a:spcBef>
              <a:spcAft>
                <a:spcPts val="0"/>
              </a:spcAft>
              <a:buClr>
                <a:srgbClr val="4F4D52"/>
              </a:buClr>
              <a:buSzPts val="2380"/>
              <a:buFont typeface="Courier New"/>
              <a:buChar char="o"/>
              <a:defRPr b="0" i="0" sz="28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marR="0" rtl="0" algn="l">
              <a:spcBef>
                <a:spcPts val="520"/>
              </a:spcBef>
              <a:spcAft>
                <a:spcPts val="0"/>
              </a:spcAft>
              <a:buClr>
                <a:srgbClr val="4F4D52"/>
              </a:buClr>
              <a:buSzPts val="2600"/>
              <a:buFont typeface="Noto Sans Symbols"/>
              <a:buChar char="▪"/>
              <a:defRPr b="0" i="0" sz="26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Noto Sans Symbols"/>
              <a:buChar char="■"/>
              <a:defRPr b="0" i="0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🢝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2"/>
          <p:cNvSpPr txBox="1"/>
          <p:nvPr>
            <p:ph idx="12" type="sldNum"/>
          </p:nvPr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  <a:defRPr b="1" i="0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Relationship Id="rId4" Type="http://schemas.openxmlformats.org/officeDocument/2006/relationships/image" Target="../media/image9.jpg"/><Relationship Id="rId5" Type="http://schemas.openxmlformats.org/officeDocument/2006/relationships/image" Target="../media/image16.png"/><Relationship Id="rId6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Relationship Id="rId4" Type="http://schemas.openxmlformats.org/officeDocument/2006/relationships/image" Target="../media/image12.jpg"/><Relationship Id="rId5" Type="http://schemas.openxmlformats.org/officeDocument/2006/relationships/image" Target="../media/image21.jpg"/><Relationship Id="rId6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jpg"/><Relationship Id="rId4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2.jpg"/><Relationship Id="rId4" Type="http://schemas.openxmlformats.org/officeDocument/2006/relationships/image" Target="../media/image19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jpg"/><Relationship Id="rId4" Type="http://schemas.openxmlformats.org/officeDocument/2006/relationships/image" Target="../media/image25.png"/><Relationship Id="rId5" Type="http://schemas.openxmlformats.org/officeDocument/2006/relationships/image" Target="../media/image28.jpg"/><Relationship Id="rId6" Type="http://schemas.openxmlformats.org/officeDocument/2006/relationships/image" Target="../media/image27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4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6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9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0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ctrTitle"/>
          </p:nvPr>
        </p:nvSpPr>
        <p:spPr>
          <a:xfrm>
            <a:off x="1619250" y="4302125"/>
            <a:ext cx="7200900" cy="830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F7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rPr>
              <a:t>Meios deTransmissão</a:t>
            </a:r>
            <a:endParaRPr/>
          </a:p>
        </p:txBody>
      </p:sp>
      <p:sp>
        <p:nvSpPr>
          <p:cNvPr id="137" name="Google Shape;137;p24"/>
          <p:cNvSpPr txBox="1"/>
          <p:nvPr>
            <p:ph idx="1" type="subTitle"/>
          </p:nvPr>
        </p:nvSpPr>
        <p:spPr>
          <a:xfrm>
            <a:off x="1619250" y="5124450"/>
            <a:ext cx="7200900" cy="96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i="0" lang="en-US" sz="30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</a:t>
            </a:r>
            <a:r>
              <a:rPr b="1" baseline="30000" i="0" lang="en-US" sz="30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a  </a:t>
            </a:r>
            <a:r>
              <a:rPr b="1" i="0" lang="en-US" sz="30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Dra. Renata Sousa S. Tolentino</a:t>
            </a:r>
            <a:endParaRPr/>
          </a:p>
        </p:txBody>
      </p:sp>
      <p:sp>
        <p:nvSpPr>
          <p:cNvPr id="138" name="Google Shape;138;p24"/>
          <p:cNvSpPr txBox="1"/>
          <p:nvPr/>
        </p:nvSpPr>
        <p:spPr>
          <a:xfrm>
            <a:off x="70104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9" name="Google Shape;139;p24"/>
          <p:cNvSpPr txBox="1"/>
          <p:nvPr>
            <p:ph idx="2" type="body"/>
          </p:nvPr>
        </p:nvSpPr>
        <p:spPr>
          <a:xfrm>
            <a:off x="1619250" y="6092825"/>
            <a:ext cx="72009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rgbClr val="4F4D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5" name="Google Shape;145;p25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  <p:sp>
        <p:nvSpPr>
          <p:cNvPr id="146" name="Google Shape;146;p25"/>
          <p:cNvSpPr txBox="1"/>
          <p:nvPr/>
        </p:nvSpPr>
        <p:spPr>
          <a:xfrm>
            <a:off x="468312" y="115887"/>
            <a:ext cx="66246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F7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295F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Ruído e atenuação</a:t>
            </a:r>
            <a:endParaRPr/>
          </a:p>
        </p:txBody>
      </p:sp>
      <p:sp>
        <p:nvSpPr>
          <p:cNvPr id="147" name="Google Shape;147;p25"/>
          <p:cNvSpPr txBox="1"/>
          <p:nvPr/>
        </p:nvSpPr>
        <p:spPr>
          <a:xfrm>
            <a:off x="468312" y="1628775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Ruídos são interferências eletromagnética, que podem prejudicar o sinal ou interromper a transmissão de dados.</a:t>
            </a:r>
            <a:endParaRPr/>
          </a:p>
          <a:p>
            <a:pPr indent="-276225" lvl="1" marL="542925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blindagem é uma solução contra ruídos.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Atenuação é quando o sinal vai perdendo sua “força”, e ficando mais fraco.</a:t>
            </a:r>
            <a:endParaRPr/>
          </a:p>
          <a:p>
            <a:pPr indent="-276225" lvl="1" marL="542925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atenuação é resolvida com o uso de um dispositivo chamado repetidor ou amplificador de sinal.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Atualmente, todos os dispositivos de rede mais avançados como switches e roteadores possuem um repetidor embutido.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301625" y="3333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F7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rPr>
              <a:t>Fio Metálico - Cabo coaxial</a:t>
            </a:r>
            <a:endParaRPr/>
          </a:p>
        </p:txBody>
      </p:sp>
      <p:sp>
        <p:nvSpPr>
          <p:cNvPr id="153" name="Google Shape;153;p26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54" name="Google Shape;154;p26"/>
          <p:cNvSpPr txBox="1"/>
          <p:nvPr/>
        </p:nvSpPr>
        <p:spPr>
          <a:xfrm>
            <a:off x="193675" y="6524625"/>
            <a:ext cx="4235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  <p:sp>
        <p:nvSpPr>
          <p:cNvPr id="155" name="Google Shape;155;p26"/>
          <p:cNvSpPr txBox="1"/>
          <p:nvPr>
            <p:ph idx="1" type="body"/>
          </p:nvPr>
        </p:nvSpPr>
        <p:spPr>
          <a:xfrm>
            <a:off x="468312" y="1268412"/>
            <a:ext cx="8351837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Foi um dos primeiros tipos de cabo usados em redes de computadores.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 possuia dois fios: </a:t>
            </a:r>
            <a:endParaRPr/>
          </a:p>
          <a:p>
            <a:pPr indent="-276225" lvl="1" marL="542925" marR="0" rtl="0" algn="just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F4D52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 fio sendo uma malha que envolvia o cabo em toda a sua extensão, funcionando como uma blindagem, oferecendo proteção contra interferências eletromagnéticas. </a:t>
            </a:r>
            <a:endParaRPr/>
          </a:p>
          <a:p>
            <a:pPr indent="-276225" lvl="1" marL="542925" marR="0" rtl="0" algn="just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F4D52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o outro fio, trabalhando como o transmissor de dados.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Existia dois tipos de cabo coaxial:</a:t>
            </a:r>
            <a:endParaRPr/>
          </a:p>
          <a:p>
            <a:pPr indent="-276225" lvl="1" marL="542925" marR="0" rtl="0" algn="just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F4D52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cabo coaxial fino ou 10Base 2;</a:t>
            </a:r>
            <a:endParaRPr/>
          </a:p>
          <a:p>
            <a:pPr indent="-276225" lvl="1" marL="542925" marR="0" rtl="0" algn="just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F4D52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cabo coaxial grosso ou 10 Base 5.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F7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rPr>
              <a:t>Cabo coaxial</a:t>
            </a:r>
            <a:endParaRPr/>
          </a:p>
        </p:txBody>
      </p:sp>
      <p:sp>
        <p:nvSpPr>
          <p:cNvPr id="161" name="Google Shape;161;p27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2" name="Google Shape;162;p27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  <p:pic>
        <p:nvPicPr>
          <p:cNvPr id="163" name="Google Shape;16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1412875"/>
            <a:ext cx="2230437" cy="223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92725" y="1412875"/>
            <a:ext cx="2808287" cy="2106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112" y="4403725"/>
            <a:ext cx="33337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08625" y="4221162"/>
            <a:ext cx="2087562" cy="208756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7"/>
          <p:cNvSpPr txBox="1"/>
          <p:nvPr/>
        </p:nvSpPr>
        <p:spPr>
          <a:xfrm>
            <a:off x="827087" y="3789362"/>
            <a:ext cx="3549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Cabo coaxial e conector BNC</a:t>
            </a:r>
            <a:endParaRPr/>
          </a:p>
        </p:txBody>
      </p:sp>
      <p:sp>
        <p:nvSpPr>
          <p:cNvPr id="168" name="Google Shape;168;p27"/>
          <p:cNvSpPr txBox="1"/>
          <p:nvPr/>
        </p:nvSpPr>
        <p:spPr>
          <a:xfrm>
            <a:off x="5148262" y="3716337"/>
            <a:ext cx="3549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Cabo coaxial e conector BNC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74" name="Google Shape;174;p28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  <p:sp>
        <p:nvSpPr>
          <p:cNvPr id="175" name="Google Shape;175;p28"/>
          <p:cNvSpPr txBox="1"/>
          <p:nvPr/>
        </p:nvSpPr>
        <p:spPr>
          <a:xfrm>
            <a:off x="468312" y="115887"/>
            <a:ext cx="68405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F7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295F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Tipos de cabo coaxial</a:t>
            </a:r>
            <a:endParaRPr/>
          </a:p>
        </p:txBody>
      </p:sp>
      <p:sp>
        <p:nvSpPr>
          <p:cNvPr id="176" name="Google Shape;176;p28"/>
          <p:cNvSpPr txBox="1"/>
          <p:nvPr/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Cabo coaxial fino (10Base2)‏</a:t>
            </a:r>
            <a:endParaRPr b="0" i="0" sz="3200" u="none" cap="none" strike="noStrike">
              <a:solidFill>
                <a:srgbClr val="4F4D5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809625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F4D52"/>
              </a:buClr>
              <a:buSzPts val="238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Também chamado de thinnet, cheapernet e RG-58;</a:t>
            </a:r>
            <a:endParaRPr/>
          </a:p>
          <a:p>
            <a:pPr indent="-266700" lvl="2" marL="809625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F4D52"/>
              </a:buClr>
              <a:buSzPts val="238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Comprimento máximo era 185m;</a:t>
            </a:r>
            <a:endParaRPr/>
          </a:p>
          <a:p>
            <a:pPr indent="-266700" lvl="2" marL="809625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F4D52"/>
              </a:buClr>
              <a:buSzPts val="238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 de 30 máquinas conectadas por segmento de rede;</a:t>
            </a:r>
            <a:endParaRPr/>
          </a:p>
          <a:p>
            <a:pPr indent="-266700" lvl="2" marL="809625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F4D52"/>
              </a:buClr>
              <a:buSzPts val="238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conexão é feito com conector BNC em “T”;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95E70"/>
              </a:solidFill>
            </a:endParaRPr>
          </a:p>
        </p:txBody>
      </p:sp>
      <p:sp>
        <p:nvSpPr>
          <p:cNvPr id="182" name="Google Shape;182;p29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3" name="Google Shape;183;p29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  <p:sp>
        <p:nvSpPr>
          <p:cNvPr id="184" name="Google Shape;184;p29"/>
          <p:cNvSpPr txBox="1"/>
          <p:nvPr>
            <p:ph idx="1" type="body"/>
          </p:nvPr>
        </p:nvSpPr>
        <p:spPr>
          <a:xfrm>
            <a:off x="468312" y="1268412"/>
            <a:ext cx="8351837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Cabo coaxial grosso (10Base5)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4F4D52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Também chamado de thicknet;</a:t>
            </a:r>
            <a:endParaRPr/>
          </a:p>
          <a:p>
            <a:pPr indent="-276225" lvl="1" marL="542925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Comprimento máximo é de 500m;</a:t>
            </a:r>
            <a:endParaRPr/>
          </a:p>
          <a:p>
            <a:pPr indent="-276225" lvl="1" marL="542925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Blindagem dupla, por isso cabo grosso;</a:t>
            </a:r>
            <a:endParaRPr/>
          </a:p>
          <a:p>
            <a:pPr indent="-276225" lvl="1" marL="542925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Menos flexível que o cabo fino;</a:t>
            </a:r>
            <a:endParaRPr/>
          </a:p>
          <a:p>
            <a:pPr indent="-276225" lvl="1" marL="542925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Velocidade 10 Mbps;</a:t>
            </a:r>
            <a:endParaRPr/>
          </a:p>
          <a:p>
            <a:pPr indent="-276225" lvl="1" marL="542925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Conector vampiro, que era ligado á placa de rede do micro através de um cabo (15m) com conector de 15 pinos;</a:t>
            </a:r>
            <a:endParaRPr/>
          </a:p>
          <a:p>
            <a:pPr indent="-276225" lvl="1" marL="542925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placa de rede com porta AUI </a:t>
            </a:r>
            <a:r>
              <a:rPr b="0" i="1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(Attachment unit interface);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0" name="Google Shape;190;p30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  <p:sp>
        <p:nvSpPr>
          <p:cNvPr id="191" name="Google Shape;191;p30"/>
          <p:cNvSpPr txBox="1"/>
          <p:nvPr/>
        </p:nvSpPr>
        <p:spPr>
          <a:xfrm>
            <a:off x="468312" y="115887"/>
            <a:ext cx="676751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F7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295F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 trançado</a:t>
            </a:r>
            <a:endParaRPr/>
          </a:p>
        </p:txBody>
      </p:sp>
      <p:sp>
        <p:nvSpPr>
          <p:cNvPr id="192" name="Google Shape;192;p30"/>
          <p:cNvSpPr txBox="1"/>
          <p:nvPr/>
        </p:nvSpPr>
        <p:spPr>
          <a:xfrm>
            <a:off x="457200" y="1628775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Tipo mais usado em redes locais;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Existem dois tipos de cabo par trançado: </a:t>
            </a:r>
            <a:endParaRPr/>
          </a:p>
          <a:p>
            <a:pPr indent="-276225" lvl="1" marL="542925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 blindagem, chamado UTP (</a:t>
            </a:r>
            <a:r>
              <a:rPr b="0" i="1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unshielded twisted pair</a:t>
            </a: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indent="-276225" lvl="1" marL="542925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 blindagem, também chamado STP (</a:t>
            </a:r>
            <a:r>
              <a:rPr b="0" i="1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shielded twisted pair</a:t>
            </a: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par trançado utiliza o conector RJ45;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par trançado sem blindagem possui um proteção contra ruídos que usa a técnica chamada cancelamento:</a:t>
            </a:r>
            <a:endParaRPr/>
          </a:p>
          <a:p>
            <a:pPr indent="-276225" lvl="1" marL="542925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informações circulam repetidas em dois fios, sendo que no segundo fio, a informação possui a sua polaridade invertida.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F7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rPr>
              <a:t>Exemplos de cabos par trançado</a:t>
            </a:r>
            <a:endParaRPr/>
          </a:p>
        </p:txBody>
      </p:sp>
      <p:sp>
        <p:nvSpPr>
          <p:cNvPr id="198" name="Google Shape;198;p31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9" name="Google Shape;199;p31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  <p:pic>
        <p:nvPicPr>
          <p:cNvPr id="200" name="Google Shape;20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9337" y="3933825"/>
            <a:ext cx="3729037" cy="252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9475" y="1916112"/>
            <a:ext cx="1633537" cy="1798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850" y="1916112"/>
            <a:ext cx="1633537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27762" y="1916112"/>
            <a:ext cx="1800225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1"/>
          <p:cNvSpPr txBox="1"/>
          <p:nvPr/>
        </p:nvSpPr>
        <p:spPr>
          <a:xfrm>
            <a:off x="252412" y="3716337"/>
            <a:ext cx="1609725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 trançado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 blindagem</a:t>
            </a:r>
            <a:endParaRPr/>
          </a:p>
        </p:txBody>
      </p:sp>
      <p:sp>
        <p:nvSpPr>
          <p:cNvPr id="205" name="Google Shape;205;p31"/>
          <p:cNvSpPr txBox="1"/>
          <p:nvPr/>
        </p:nvSpPr>
        <p:spPr>
          <a:xfrm>
            <a:off x="3427412" y="3789362"/>
            <a:ext cx="1598612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 trançado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 blindagem</a:t>
            </a:r>
            <a:endParaRPr/>
          </a:p>
        </p:txBody>
      </p:sp>
      <p:sp>
        <p:nvSpPr>
          <p:cNvPr id="206" name="Google Shape;206;p31"/>
          <p:cNvSpPr txBox="1"/>
          <p:nvPr/>
        </p:nvSpPr>
        <p:spPr>
          <a:xfrm>
            <a:off x="6924675" y="3500437"/>
            <a:ext cx="65087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RJ45</a:t>
            </a:r>
            <a:endParaRPr/>
          </a:p>
        </p:txBody>
      </p:sp>
      <p:sp>
        <p:nvSpPr>
          <p:cNvPr id="207" name="Google Shape;207;p31"/>
          <p:cNvSpPr txBox="1"/>
          <p:nvPr/>
        </p:nvSpPr>
        <p:spPr>
          <a:xfrm>
            <a:off x="6483350" y="6021387"/>
            <a:ext cx="13906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Cabo de rede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95E70"/>
              </a:solidFill>
            </a:endParaRPr>
          </a:p>
        </p:txBody>
      </p:sp>
      <p:sp>
        <p:nvSpPr>
          <p:cNvPr id="213" name="Google Shape;213;p32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4" name="Google Shape;214;p32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  <p:sp>
        <p:nvSpPr>
          <p:cNvPr id="215" name="Google Shape;215;p32"/>
          <p:cNvSpPr txBox="1"/>
          <p:nvPr>
            <p:ph idx="1" type="body"/>
          </p:nvPr>
        </p:nvSpPr>
        <p:spPr>
          <a:xfrm>
            <a:off x="468312" y="1412875"/>
            <a:ext cx="8229600" cy="470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Todo fio produz um campo eletromagnético ao seu redor quando um dado é transmitido. Se esse campo for forte o suficiente, ele irá corromper os dados que estejam circulando neste fio (ruído);</a:t>
            </a:r>
            <a:endParaRPr/>
          </a:p>
          <a:p>
            <a:pPr indent="-342900" lvl="0" marL="342900" marR="0" rtl="0" algn="just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A direção desse campo eletromagnético depende do sentido da corrente que está circulando no fio, isto é, se é positiva ou negativa. </a:t>
            </a:r>
            <a:endParaRPr/>
          </a:p>
          <a:p>
            <a:pPr indent="-342900" lvl="0" marL="342900" marR="0" rtl="0" algn="just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No par trançado, cada par transmite a mesma informação só que com a polaridade invertida, cada fio gera um campo eletromagnético de mesma intensidade mas em sentido contrário. Um campo de fio é anulado pelo campo do outro fio.</a:t>
            </a:r>
            <a:endParaRPr/>
          </a:p>
          <a:p>
            <a:pPr indent="-342900" lvl="0" marL="342900" marR="0" rtl="0" algn="just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A informação é transmitida duplicada, possibilitando a verificação da mesma, no receptor e possível eliminação de ruídos.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95E70"/>
              </a:solidFill>
            </a:endParaRPr>
          </a:p>
        </p:txBody>
      </p:sp>
      <p:sp>
        <p:nvSpPr>
          <p:cNvPr id="221" name="Google Shape;221;p33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2" name="Google Shape;222;p33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  <p:sp>
        <p:nvSpPr>
          <p:cNvPr id="223" name="Google Shape;223;p33"/>
          <p:cNvSpPr txBox="1"/>
          <p:nvPr>
            <p:ph idx="1" type="body"/>
          </p:nvPr>
        </p:nvSpPr>
        <p:spPr>
          <a:xfrm>
            <a:off x="468312" y="1484312"/>
            <a:ext cx="8229600" cy="210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Dois fios são enrolados um no outro, o que aumenta a força da proteção eletromagnética.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par trançado utiliza dois pares, um para a transmissão de dados (TD) e outro para a recepção de dados (RD). Como utiliza canais separados a comunicação é </a:t>
            </a:r>
            <a:r>
              <a:rPr b="0" i="1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duplex</a:t>
            </a:r>
            <a:endParaRPr/>
          </a:p>
        </p:txBody>
      </p:sp>
      <p:pic>
        <p:nvPicPr>
          <p:cNvPr id="224" name="Google Shape;22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4076700"/>
            <a:ext cx="3163887" cy="2160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2362" y="3933825"/>
            <a:ext cx="2409825" cy="221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4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1" name="Google Shape;231;p34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  <p:sp>
        <p:nvSpPr>
          <p:cNvPr id="232" name="Google Shape;232;p34"/>
          <p:cNvSpPr txBox="1"/>
          <p:nvPr/>
        </p:nvSpPr>
        <p:spPr>
          <a:xfrm>
            <a:off x="468312" y="115887"/>
            <a:ext cx="6983412" cy="936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F7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295F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Vantagens e desvantagens </a:t>
            </a:r>
            <a:endParaRPr/>
          </a:p>
        </p:txBody>
      </p:sp>
      <p:sp>
        <p:nvSpPr>
          <p:cNvPr id="233" name="Google Shape;233;p34"/>
          <p:cNvSpPr txBox="1"/>
          <p:nvPr/>
        </p:nvSpPr>
        <p:spPr>
          <a:xfrm>
            <a:off x="468312" y="1484312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Vantagem:</a:t>
            </a:r>
            <a:endParaRPr/>
          </a:p>
          <a:p>
            <a:pPr indent="-276225" lvl="1" marL="5429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Flexibilidade de instalação;</a:t>
            </a:r>
            <a:endParaRPr/>
          </a:p>
          <a:p>
            <a:pPr indent="-276225" lvl="1" marL="5429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Melhor preço em relação à fibra óptica;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Desvantagens:</a:t>
            </a:r>
            <a:endParaRPr/>
          </a:p>
          <a:p>
            <a:pPr indent="-276225" lvl="1" marL="5429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Limite do comprimento do cabo 100m;</a:t>
            </a:r>
            <a:endParaRPr/>
          </a:p>
          <a:p>
            <a:pPr indent="-276225" lvl="1" marL="5429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Baixa imunidade contra interferências eletromagnéticas no cabo sem blindagem;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Tipos de cabos</a:t>
            </a:r>
            <a:endParaRPr/>
          </a:p>
          <a:p>
            <a:pPr indent="-276225" lvl="1" marL="5429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10 Base T: 10 Mbps;</a:t>
            </a:r>
            <a:endParaRPr/>
          </a:p>
          <a:p>
            <a:pPr indent="-276225" lvl="1" marL="542925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100 Base T: 100Mbps;</a:t>
            </a:r>
            <a:endParaRPr/>
          </a:p>
          <a:p>
            <a:pPr indent="-276225" lvl="1" marL="542925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1000 Base T ou </a:t>
            </a:r>
            <a:r>
              <a:rPr b="0" i="1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Gigabit Ethernet</a:t>
            </a: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: 1000Mbps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9" name="Google Shape;239;p35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  <p:sp>
        <p:nvSpPr>
          <p:cNvPr id="240" name="Google Shape;240;p35"/>
          <p:cNvSpPr txBox="1"/>
          <p:nvPr/>
        </p:nvSpPr>
        <p:spPr>
          <a:xfrm>
            <a:off x="539750" y="188912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F7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295F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 trançado</a:t>
            </a:r>
            <a:endParaRPr/>
          </a:p>
        </p:txBody>
      </p:sp>
      <p:sp>
        <p:nvSpPr>
          <p:cNvPr id="241" name="Google Shape;241;p35"/>
          <p:cNvSpPr txBox="1"/>
          <p:nvPr/>
        </p:nvSpPr>
        <p:spPr>
          <a:xfrm>
            <a:off x="457200" y="1828800"/>
            <a:ext cx="8229600" cy="4414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A EIA/TIA (</a:t>
            </a:r>
            <a:r>
              <a:rPr b="0" i="1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Eletronic Industries Alliance / Telecommunications Industry Association</a:t>
            </a: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), órgão norte-americano responsável pela padronização de sistemas de telecomunicação, padronizou os cabos do tipo par trançado em um norma chamada 568, os cabos são classificados em categorias de 1 a 7. </a:t>
            </a:r>
            <a:endParaRPr/>
          </a:p>
          <a:p>
            <a:pPr indent="-276225" lvl="1" marL="542925" marR="0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Categoria 1: é o cabo par trançado usado em cabos telefônicos, transmissões até 1MHz (1Mbps);</a:t>
            </a:r>
            <a:endParaRPr/>
          </a:p>
          <a:p>
            <a:pPr indent="-276225" lvl="1" marL="542925" marR="0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Categoria 2: usado em redes específicas, Token Ring,  com taxas de até 4 Mhz;</a:t>
            </a:r>
            <a:endParaRPr/>
          </a:p>
          <a:p>
            <a:pPr indent="-276225" lvl="1" marL="542925" marR="0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Categoria 3: permite transmissões de até 16 MHz e com taxas de 16 Mbps;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4F4D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7" name="Google Shape;247;p36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  <p:sp>
        <p:nvSpPr>
          <p:cNvPr id="248" name="Google Shape;248;p36"/>
          <p:cNvSpPr txBox="1"/>
          <p:nvPr/>
        </p:nvSpPr>
        <p:spPr>
          <a:xfrm>
            <a:off x="457200" y="-3873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F71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295F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Categorias de par trançado</a:t>
            </a:r>
            <a:endParaRPr/>
          </a:p>
        </p:txBody>
      </p:sp>
      <p:sp>
        <p:nvSpPr>
          <p:cNvPr id="249" name="Google Shape;249;p36"/>
          <p:cNvSpPr txBox="1"/>
          <p:nvPr/>
        </p:nvSpPr>
        <p:spPr>
          <a:xfrm>
            <a:off x="457200" y="908050"/>
            <a:ext cx="8229600" cy="559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4F4D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Categoria 4: podia ser utilizado para transmissão com freqüência de 20 MHz e taxas de 16 .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Categoria 5: usado em redes </a:t>
            </a:r>
            <a:r>
              <a:rPr b="0" i="1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fast ethernet</a:t>
            </a: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 em freqüências de até 100 MHz com uma taxa de 100 Mbps. 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Categoria 5e: é uma melhoria da categoria 5. Pode ser usado para freqüências até 125 MHz em redes 1000BASE-T </a:t>
            </a:r>
            <a:r>
              <a:rPr b="0" i="1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gigabit ethernet</a:t>
            </a: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Categoria 6: permite transmissões de até 250 MHz e pode ser usado em redes </a:t>
            </a:r>
            <a:r>
              <a:rPr b="0" i="1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gigabit ethernet</a:t>
            </a: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 a velocidade de 1.000 Mbps. 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Categoria 6a: permite transmissões a até 500 MHz, sendo o padrão usado por redes 10G Ethernet (10Gbps);</a:t>
            </a:r>
            <a:endParaRPr/>
          </a:p>
          <a:p>
            <a:pPr indent="-190500" lvl="0" marL="342900" marR="0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4F4D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4F4D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4F4D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4F4D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4F4D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7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5" name="Google Shape;255;p37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  <p:sp>
        <p:nvSpPr>
          <p:cNvPr id="256" name="Google Shape;256;p37"/>
          <p:cNvSpPr txBox="1"/>
          <p:nvPr/>
        </p:nvSpPr>
        <p:spPr>
          <a:xfrm>
            <a:off x="395287" y="188912"/>
            <a:ext cx="66246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F7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rPr>
              <a:t>Categorias de par trançado</a:t>
            </a:r>
            <a:endParaRPr/>
          </a:p>
        </p:txBody>
      </p:sp>
      <p:sp>
        <p:nvSpPr>
          <p:cNvPr id="257" name="Google Shape;257;p37"/>
          <p:cNvSpPr txBox="1"/>
          <p:nvPr/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Categoria 7: trata-se de um padrão para cabo par trançado com blindagem, permitindo transmissões a até 600 MHz;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Categoria 7a: idem acima, com frequência máxima de 1GHz.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A proteçao plástica externa do cabo pode ser fabricada de diversas cores, tais como azul, vermelha, branca, cinza ou preta.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8"/>
          <p:cNvSpPr txBox="1"/>
          <p:nvPr>
            <p:ph idx="1" type="body"/>
          </p:nvPr>
        </p:nvSpPr>
        <p:spPr>
          <a:xfrm>
            <a:off x="468312" y="1268412"/>
            <a:ext cx="8351837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Pinagem: o par trançado sem blindagem utiliza em suas extremidades um conector chamado 8P8C (RJ-45), que possui oito contatos, numerados de um a oito.</a:t>
            </a:r>
            <a:endParaRPr/>
          </a:p>
        </p:txBody>
      </p:sp>
      <p:sp>
        <p:nvSpPr>
          <p:cNvPr id="263" name="Google Shape;263;p38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95E70"/>
              </a:solidFill>
            </a:endParaRPr>
          </a:p>
        </p:txBody>
      </p:sp>
      <p:sp>
        <p:nvSpPr>
          <p:cNvPr id="264" name="Google Shape;264;p38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5" name="Google Shape;265;p38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  <p:pic>
        <p:nvPicPr>
          <p:cNvPr descr="TN500_CON_RJ45_FEMEA_2.png" id="266" name="Google Shape;26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3212" y="2781300"/>
            <a:ext cx="2808287" cy="2808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9"/>
          <p:cNvSpPr txBox="1"/>
          <p:nvPr>
            <p:ph idx="1" type="body"/>
          </p:nvPr>
        </p:nvSpPr>
        <p:spPr>
          <a:xfrm>
            <a:off x="468312" y="1268412"/>
            <a:ext cx="8351837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No cabo par trançado há oitos fios (quatro pares), cada par de uma cor diferente para sua identificação: verde, laranja, marrom e azul;</a:t>
            </a:r>
            <a:endParaRPr/>
          </a:p>
          <a:p>
            <a:pPr indent="-266700" lvl="2" marL="809625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04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Um dos fios dos pares é totalmente, colorido e o outro é branco com faixa colorida;</a:t>
            </a:r>
            <a:endParaRPr/>
          </a:p>
          <a:p>
            <a:pPr indent="-266700" lvl="2" marL="809625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04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Há uma correta instalação dos fios no conector 8P8C;</a:t>
            </a:r>
            <a:endParaRPr/>
          </a:p>
          <a:p>
            <a:pPr indent="-266700" lvl="2" marL="809625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04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A posição dos fios no conector é feita de forma a minimizar os efeitos da interferência;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4F4D5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9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95E70"/>
              </a:solidFill>
            </a:endParaRPr>
          </a:p>
        </p:txBody>
      </p:sp>
      <p:sp>
        <p:nvSpPr>
          <p:cNvPr id="273" name="Google Shape;273;p39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4" name="Google Shape;274;p39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0"/>
          <p:cNvSpPr txBox="1"/>
          <p:nvPr>
            <p:ph idx="1" type="body"/>
          </p:nvPr>
        </p:nvSpPr>
        <p:spPr>
          <a:xfrm>
            <a:off x="468312" y="1268412"/>
            <a:ext cx="8351837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O padrão da TIA (T568) apresenta duas possibilidades de conexão: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rgbClr val="4F4D52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rgbClr val="4F4D5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0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95E70"/>
              </a:solidFill>
            </a:endParaRPr>
          </a:p>
        </p:txBody>
      </p:sp>
      <p:sp>
        <p:nvSpPr>
          <p:cNvPr id="281" name="Google Shape;281;p40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82" name="Google Shape;282;p40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  <p:pic>
        <p:nvPicPr>
          <p:cNvPr descr="cable-de-red-normas-t568a-t568b.gif" id="283" name="Google Shape;28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1412" y="2492375"/>
            <a:ext cx="3832225" cy="3348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/>
          <p:nvPr>
            <p:ph idx="1" type="body"/>
          </p:nvPr>
        </p:nvSpPr>
        <p:spPr>
          <a:xfrm>
            <a:off x="468312" y="1268412"/>
            <a:ext cx="8351837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Cabo Cruzado ou </a:t>
            </a:r>
            <a:r>
              <a:rPr b="0" i="1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crossover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4F4D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4F4D5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41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95E70"/>
              </a:solidFill>
            </a:endParaRPr>
          </a:p>
        </p:txBody>
      </p:sp>
      <p:sp>
        <p:nvSpPr>
          <p:cNvPr id="290" name="Google Shape;290;p41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91" name="Google Shape;291;p41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  <p:sp>
        <p:nvSpPr>
          <p:cNvPr id="292" name="Google Shape;292;p41"/>
          <p:cNvSpPr txBox="1"/>
          <p:nvPr/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O par trançado faz uma ligação pino a pino entre os dispositivos, como um micro ligado a um equipamento de conectividade.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O que acontece dentro do dispositivo de conectividade é que os sinais que estão saindo dos micros (TD) são ligados nas entradas de dados das demais máquinas (RD) e vice e versa para que a comunicação possa ser estabelecida. Esse esquema é chamado </a:t>
            </a:r>
            <a:r>
              <a:rPr b="0" i="1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crossover.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2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95E70"/>
              </a:solidFill>
            </a:endParaRPr>
          </a:p>
        </p:txBody>
      </p:sp>
      <p:sp>
        <p:nvSpPr>
          <p:cNvPr id="298" name="Google Shape;298;p42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99" name="Google Shape;299;p42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  <p:sp>
        <p:nvSpPr>
          <p:cNvPr id="300" name="Google Shape;300;p42"/>
          <p:cNvSpPr txBox="1"/>
          <p:nvPr>
            <p:ph idx="1" type="body"/>
          </p:nvPr>
        </p:nvSpPr>
        <p:spPr>
          <a:xfrm>
            <a:off x="468312" y="1268412"/>
            <a:ext cx="8351837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 algumas situações os equipamentos não fazem o cross-over interno. </a:t>
            </a:r>
            <a:endParaRPr/>
          </a:p>
          <a:p>
            <a:pPr indent="-276225" lvl="1" marL="542925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 exemplo, ligar um computador em outro, então devemos utilizar o cabo crossover que faz o cruzamento externo.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cabo crossover interliga a saída de dados do primeiro micro à entrada de dados do segundo micro e vice-versa. A pinagem desse tipo de cabo para redes 10BaseT e 100BaseT é mostrada nas tabelas a seguir: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3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06" name="Google Shape;306;p43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  <p:grpSp>
        <p:nvGrpSpPr>
          <p:cNvPr id="307" name="Google Shape;307;p43"/>
          <p:cNvGrpSpPr/>
          <p:nvPr/>
        </p:nvGrpSpPr>
        <p:grpSpPr>
          <a:xfrm>
            <a:off x="611187" y="981075"/>
            <a:ext cx="4324573" cy="5188182"/>
            <a:chOff x="288" y="1152"/>
            <a:chExt cx="2545" cy="3046"/>
          </a:xfrm>
        </p:grpSpPr>
        <p:sp>
          <p:nvSpPr>
            <p:cNvPr id="308" name="Google Shape;308;p43"/>
            <p:cNvSpPr txBox="1"/>
            <p:nvPr/>
          </p:nvSpPr>
          <p:spPr>
            <a:xfrm>
              <a:off x="1984" y="3967"/>
              <a:ext cx="848" cy="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/>
            </a:p>
          </p:txBody>
        </p:sp>
        <p:sp>
          <p:nvSpPr>
            <p:cNvPr id="309" name="Google Shape;309;p43"/>
            <p:cNvSpPr txBox="1"/>
            <p:nvPr/>
          </p:nvSpPr>
          <p:spPr>
            <a:xfrm>
              <a:off x="1136" y="3967"/>
              <a:ext cx="846" cy="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marron</a:t>
              </a:r>
              <a:endParaRPr/>
            </a:p>
          </p:txBody>
        </p:sp>
        <p:sp>
          <p:nvSpPr>
            <p:cNvPr id="310" name="Google Shape;310;p43"/>
            <p:cNvSpPr txBox="1"/>
            <p:nvPr/>
          </p:nvSpPr>
          <p:spPr>
            <a:xfrm>
              <a:off x="288" y="3967"/>
              <a:ext cx="848" cy="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/>
            </a:p>
          </p:txBody>
        </p:sp>
        <p:sp>
          <p:nvSpPr>
            <p:cNvPr id="311" name="Google Shape;311;p43"/>
            <p:cNvSpPr txBox="1"/>
            <p:nvPr/>
          </p:nvSpPr>
          <p:spPr>
            <a:xfrm>
              <a:off x="1984" y="3564"/>
              <a:ext cx="848" cy="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/>
            </a:p>
          </p:txBody>
        </p:sp>
        <p:sp>
          <p:nvSpPr>
            <p:cNvPr id="312" name="Google Shape;312;p43"/>
            <p:cNvSpPr txBox="1"/>
            <p:nvPr/>
          </p:nvSpPr>
          <p:spPr>
            <a:xfrm>
              <a:off x="1136" y="3564"/>
              <a:ext cx="846" cy="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Branco com marrom</a:t>
              </a:r>
              <a:endParaRPr/>
            </a:p>
          </p:txBody>
        </p:sp>
        <p:sp>
          <p:nvSpPr>
            <p:cNvPr id="313" name="Google Shape;313;p43"/>
            <p:cNvSpPr txBox="1"/>
            <p:nvPr/>
          </p:nvSpPr>
          <p:spPr>
            <a:xfrm>
              <a:off x="288" y="3564"/>
              <a:ext cx="848" cy="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/>
            </a:p>
          </p:txBody>
        </p:sp>
        <p:sp>
          <p:nvSpPr>
            <p:cNvPr id="314" name="Google Shape;314;p43"/>
            <p:cNvSpPr txBox="1"/>
            <p:nvPr/>
          </p:nvSpPr>
          <p:spPr>
            <a:xfrm>
              <a:off x="1984" y="3334"/>
              <a:ext cx="848" cy="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315" name="Google Shape;315;p43"/>
            <p:cNvSpPr txBox="1"/>
            <p:nvPr/>
          </p:nvSpPr>
          <p:spPr>
            <a:xfrm>
              <a:off x="1136" y="3334"/>
              <a:ext cx="846" cy="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Laranja</a:t>
              </a:r>
              <a:endParaRPr/>
            </a:p>
          </p:txBody>
        </p:sp>
        <p:sp>
          <p:nvSpPr>
            <p:cNvPr id="316" name="Google Shape;316;p43"/>
            <p:cNvSpPr txBox="1"/>
            <p:nvPr/>
          </p:nvSpPr>
          <p:spPr>
            <a:xfrm>
              <a:off x="288" y="3334"/>
              <a:ext cx="848" cy="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/>
            </a:p>
          </p:txBody>
        </p:sp>
        <p:sp>
          <p:nvSpPr>
            <p:cNvPr id="317" name="Google Shape;317;p43"/>
            <p:cNvSpPr txBox="1"/>
            <p:nvPr/>
          </p:nvSpPr>
          <p:spPr>
            <a:xfrm>
              <a:off x="1984" y="2931"/>
              <a:ext cx="848" cy="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</p:txBody>
        </p:sp>
        <p:sp>
          <p:nvSpPr>
            <p:cNvPr id="318" name="Google Shape;318;p43"/>
            <p:cNvSpPr txBox="1"/>
            <p:nvPr/>
          </p:nvSpPr>
          <p:spPr>
            <a:xfrm>
              <a:off x="1136" y="2931"/>
              <a:ext cx="846" cy="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Branco com azul</a:t>
              </a:r>
              <a:endParaRPr/>
            </a:p>
          </p:txBody>
        </p:sp>
        <p:sp>
          <p:nvSpPr>
            <p:cNvPr id="319" name="Google Shape;319;p43"/>
            <p:cNvSpPr txBox="1"/>
            <p:nvPr/>
          </p:nvSpPr>
          <p:spPr>
            <a:xfrm>
              <a:off x="288" y="2931"/>
              <a:ext cx="848" cy="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</p:txBody>
        </p:sp>
        <p:sp>
          <p:nvSpPr>
            <p:cNvPr id="320" name="Google Shape;320;p43"/>
            <p:cNvSpPr txBox="1"/>
            <p:nvPr/>
          </p:nvSpPr>
          <p:spPr>
            <a:xfrm>
              <a:off x="1984" y="2701"/>
              <a:ext cx="848" cy="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  <p:sp>
          <p:nvSpPr>
            <p:cNvPr id="321" name="Google Shape;321;p43"/>
            <p:cNvSpPr txBox="1"/>
            <p:nvPr/>
          </p:nvSpPr>
          <p:spPr>
            <a:xfrm>
              <a:off x="1136" y="2701"/>
              <a:ext cx="846" cy="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Azul</a:t>
              </a:r>
              <a:endParaRPr/>
            </a:p>
          </p:txBody>
        </p:sp>
        <p:sp>
          <p:nvSpPr>
            <p:cNvPr id="322" name="Google Shape;322;p43"/>
            <p:cNvSpPr txBox="1"/>
            <p:nvPr/>
          </p:nvSpPr>
          <p:spPr>
            <a:xfrm>
              <a:off x="288" y="2701"/>
              <a:ext cx="848" cy="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  <p:sp>
          <p:nvSpPr>
            <p:cNvPr id="323" name="Google Shape;323;p43"/>
            <p:cNvSpPr txBox="1"/>
            <p:nvPr/>
          </p:nvSpPr>
          <p:spPr>
            <a:xfrm>
              <a:off x="1984" y="2298"/>
              <a:ext cx="848" cy="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324" name="Google Shape;324;p43"/>
            <p:cNvSpPr txBox="1"/>
            <p:nvPr/>
          </p:nvSpPr>
          <p:spPr>
            <a:xfrm>
              <a:off x="1136" y="2298"/>
              <a:ext cx="846" cy="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Branco com laranja</a:t>
              </a:r>
              <a:endParaRPr/>
            </a:p>
          </p:txBody>
        </p:sp>
        <p:sp>
          <p:nvSpPr>
            <p:cNvPr id="325" name="Google Shape;325;p43"/>
            <p:cNvSpPr txBox="1"/>
            <p:nvPr/>
          </p:nvSpPr>
          <p:spPr>
            <a:xfrm>
              <a:off x="288" y="2298"/>
              <a:ext cx="848" cy="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326" name="Google Shape;326;p43"/>
            <p:cNvSpPr txBox="1"/>
            <p:nvPr/>
          </p:nvSpPr>
          <p:spPr>
            <a:xfrm>
              <a:off x="1984" y="2068"/>
              <a:ext cx="848" cy="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/>
            </a:p>
          </p:txBody>
        </p:sp>
        <p:sp>
          <p:nvSpPr>
            <p:cNvPr id="327" name="Google Shape;327;p43"/>
            <p:cNvSpPr txBox="1"/>
            <p:nvPr/>
          </p:nvSpPr>
          <p:spPr>
            <a:xfrm>
              <a:off x="1136" y="2068"/>
              <a:ext cx="846" cy="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Verde </a:t>
              </a:r>
              <a:endParaRPr/>
            </a:p>
          </p:txBody>
        </p:sp>
        <p:sp>
          <p:nvSpPr>
            <p:cNvPr id="328" name="Google Shape;328;p43"/>
            <p:cNvSpPr txBox="1"/>
            <p:nvPr/>
          </p:nvSpPr>
          <p:spPr>
            <a:xfrm>
              <a:off x="288" y="2068"/>
              <a:ext cx="848" cy="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329" name="Google Shape;329;p43"/>
            <p:cNvSpPr txBox="1"/>
            <p:nvPr/>
          </p:nvSpPr>
          <p:spPr>
            <a:xfrm>
              <a:off x="1984" y="1665"/>
              <a:ext cx="848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330" name="Google Shape;330;p43"/>
            <p:cNvSpPr txBox="1"/>
            <p:nvPr/>
          </p:nvSpPr>
          <p:spPr>
            <a:xfrm>
              <a:off x="1136" y="1665"/>
              <a:ext cx="846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Branco com verde</a:t>
              </a:r>
              <a:endParaRPr/>
            </a:p>
          </p:txBody>
        </p:sp>
        <p:sp>
          <p:nvSpPr>
            <p:cNvPr id="331" name="Google Shape;331;p43"/>
            <p:cNvSpPr txBox="1"/>
            <p:nvPr/>
          </p:nvSpPr>
          <p:spPr>
            <a:xfrm>
              <a:off x="288" y="1665"/>
              <a:ext cx="848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332" name="Google Shape;332;p43"/>
            <p:cNvSpPr txBox="1"/>
            <p:nvPr/>
          </p:nvSpPr>
          <p:spPr>
            <a:xfrm>
              <a:off x="1984" y="1152"/>
              <a:ext cx="848" cy="5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Pino ( Conector B)‏</a:t>
              </a:r>
              <a:endParaRPr/>
            </a:p>
          </p:txBody>
        </p:sp>
        <p:sp>
          <p:nvSpPr>
            <p:cNvPr id="333" name="Google Shape;333;p43"/>
            <p:cNvSpPr txBox="1"/>
            <p:nvPr/>
          </p:nvSpPr>
          <p:spPr>
            <a:xfrm>
              <a:off x="1136" y="1152"/>
              <a:ext cx="846" cy="5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Cor </a:t>
              </a:r>
              <a:endParaRPr/>
            </a:p>
          </p:txBody>
        </p:sp>
        <p:sp>
          <p:nvSpPr>
            <p:cNvPr id="334" name="Google Shape;334;p43"/>
            <p:cNvSpPr txBox="1"/>
            <p:nvPr/>
          </p:nvSpPr>
          <p:spPr>
            <a:xfrm>
              <a:off x="288" y="1152"/>
              <a:ext cx="848" cy="5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Pino (conector A)‏</a:t>
              </a:r>
              <a:endParaRPr/>
            </a:p>
          </p:txBody>
        </p:sp>
        <p:cxnSp>
          <p:nvCxnSpPr>
            <p:cNvPr id="335" name="Google Shape;335;p43"/>
            <p:cNvCxnSpPr/>
            <p:nvPr/>
          </p:nvCxnSpPr>
          <p:spPr>
            <a:xfrm>
              <a:off x="288" y="1152"/>
              <a:ext cx="2544" cy="1"/>
            </a:xfrm>
            <a:prstGeom prst="straightConnector1">
              <a:avLst/>
            </a:prstGeom>
            <a:noFill/>
            <a:ln cap="flat" cmpd="sng" w="284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36" name="Google Shape;336;p43"/>
            <p:cNvCxnSpPr/>
            <p:nvPr/>
          </p:nvCxnSpPr>
          <p:spPr>
            <a:xfrm>
              <a:off x="288" y="1665"/>
              <a:ext cx="2544" cy="1"/>
            </a:xfrm>
            <a:prstGeom prst="straightConnector1">
              <a:avLst/>
            </a:prstGeom>
            <a:noFill/>
            <a:ln cap="flat" cmpd="sng" w="126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37" name="Google Shape;337;p43"/>
            <p:cNvCxnSpPr/>
            <p:nvPr/>
          </p:nvCxnSpPr>
          <p:spPr>
            <a:xfrm>
              <a:off x="288" y="2068"/>
              <a:ext cx="2544" cy="1"/>
            </a:xfrm>
            <a:prstGeom prst="straightConnector1">
              <a:avLst/>
            </a:prstGeom>
            <a:noFill/>
            <a:ln cap="flat" cmpd="sng" w="126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38" name="Google Shape;338;p43"/>
            <p:cNvCxnSpPr/>
            <p:nvPr/>
          </p:nvCxnSpPr>
          <p:spPr>
            <a:xfrm>
              <a:off x="288" y="2298"/>
              <a:ext cx="2544" cy="1"/>
            </a:xfrm>
            <a:prstGeom prst="straightConnector1">
              <a:avLst/>
            </a:prstGeom>
            <a:noFill/>
            <a:ln cap="flat" cmpd="sng" w="126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39" name="Google Shape;339;p43"/>
            <p:cNvCxnSpPr/>
            <p:nvPr/>
          </p:nvCxnSpPr>
          <p:spPr>
            <a:xfrm>
              <a:off x="288" y="2701"/>
              <a:ext cx="2544" cy="1"/>
            </a:xfrm>
            <a:prstGeom prst="straightConnector1">
              <a:avLst/>
            </a:prstGeom>
            <a:noFill/>
            <a:ln cap="flat" cmpd="sng" w="126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40" name="Google Shape;340;p43"/>
            <p:cNvCxnSpPr/>
            <p:nvPr/>
          </p:nvCxnSpPr>
          <p:spPr>
            <a:xfrm>
              <a:off x="288" y="2931"/>
              <a:ext cx="2544" cy="1"/>
            </a:xfrm>
            <a:prstGeom prst="straightConnector1">
              <a:avLst/>
            </a:prstGeom>
            <a:noFill/>
            <a:ln cap="flat" cmpd="sng" w="126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41" name="Google Shape;341;p43"/>
            <p:cNvCxnSpPr/>
            <p:nvPr/>
          </p:nvCxnSpPr>
          <p:spPr>
            <a:xfrm>
              <a:off x="288" y="3334"/>
              <a:ext cx="2544" cy="1"/>
            </a:xfrm>
            <a:prstGeom prst="straightConnector1">
              <a:avLst/>
            </a:prstGeom>
            <a:noFill/>
            <a:ln cap="flat" cmpd="sng" w="126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42" name="Google Shape;342;p43"/>
            <p:cNvCxnSpPr/>
            <p:nvPr/>
          </p:nvCxnSpPr>
          <p:spPr>
            <a:xfrm>
              <a:off x="288" y="3564"/>
              <a:ext cx="2544" cy="1"/>
            </a:xfrm>
            <a:prstGeom prst="straightConnector1">
              <a:avLst/>
            </a:prstGeom>
            <a:noFill/>
            <a:ln cap="flat" cmpd="sng" w="126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43" name="Google Shape;343;p43"/>
            <p:cNvCxnSpPr/>
            <p:nvPr/>
          </p:nvCxnSpPr>
          <p:spPr>
            <a:xfrm>
              <a:off x="288" y="3967"/>
              <a:ext cx="2544" cy="1"/>
            </a:xfrm>
            <a:prstGeom prst="straightConnector1">
              <a:avLst/>
            </a:prstGeom>
            <a:noFill/>
            <a:ln cap="flat" cmpd="sng" w="126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44" name="Google Shape;344;p43"/>
            <p:cNvCxnSpPr/>
            <p:nvPr/>
          </p:nvCxnSpPr>
          <p:spPr>
            <a:xfrm>
              <a:off x="288" y="4197"/>
              <a:ext cx="2544" cy="1"/>
            </a:xfrm>
            <a:prstGeom prst="straightConnector1">
              <a:avLst/>
            </a:prstGeom>
            <a:noFill/>
            <a:ln cap="flat" cmpd="sng" w="284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45" name="Google Shape;345;p43"/>
            <p:cNvCxnSpPr/>
            <p:nvPr/>
          </p:nvCxnSpPr>
          <p:spPr>
            <a:xfrm>
              <a:off x="288" y="1152"/>
              <a:ext cx="1" cy="3045"/>
            </a:xfrm>
            <a:prstGeom prst="straightConnector1">
              <a:avLst/>
            </a:prstGeom>
            <a:noFill/>
            <a:ln cap="flat" cmpd="sng" w="284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46" name="Google Shape;346;p43"/>
            <p:cNvCxnSpPr/>
            <p:nvPr/>
          </p:nvCxnSpPr>
          <p:spPr>
            <a:xfrm>
              <a:off x="1136" y="1152"/>
              <a:ext cx="1" cy="3045"/>
            </a:xfrm>
            <a:prstGeom prst="straightConnector1">
              <a:avLst/>
            </a:prstGeom>
            <a:noFill/>
            <a:ln cap="flat" cmpd="sng" w="126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47" name="Google Shape;347;p43"/>
            <p:cNvCxnSpPr/>
            <p:nvPr/>
          </p:nvCxnSpPr>
          <p:spPr>
            <a:xfrm>
              <a:off x="1984" y="1152"/>
              <a:ext cx="1" cy="3045"/>
            </a:xfrm>
            <a:prstGeom prst="straightConnector1">
              <a:avLst/>
            </a:prstGeom>
            <a:noFill/>
            <a:ln cap="flat" cmpd="sng" w="126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48" name="Google Shape;348;p43"/>
            <p:cNvCxnSpPr/>
            <p:nvPr/>
          </p:nvCxnSpPr>
          <p:spPr>
            <a:xfrm>
              <a:off x="2832" y="1152"/>
              <a:ext cx="1" cy="3045"/>
            </a:xfrm>
            <a:prstGeom prst="straightConnector1">
              <a:avLst/>
            </a:prstGeom>
            <a:noFill/>
            <a:ln cap="flat" cmpd="sng" w="284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pic>
        <p:nvPicPr>
          <p:cNvPr id="349" name="Google Shape;34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5762" y="2205037"/>
            <a:ext cx="3276600" cy="27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4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55" name="Google Shape;355;p44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  <p:sp>
        <p:nvSpPr>
          <p:cNvPr id="356" name="Google Shape;356;p44"/>
          <p:cNvSpPr txBox="1"/>
          <p:nvPr/>
        </p:nvSpPr>
        <p:spPr>
          <a:xfrm>
            <a:off x="468312" y="-100012"/>
            <a:ext cx="6983412" cy="11525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F71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295F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1000Base T (todos os pares são usados)‏</a:t>
            </a:r>
            <a:endParaRPr/>
          </a:p>
        </p:txBody>
      </p:sp>
      <p:grpSp>
        <p:nvGrpSpPr>
          <p:cNvPr id="357" name="Google Shape;357;p44"/>
          <p:cNvGrpSpPr/>
          <p:nvPr/>
        </p:nvGrpSpPr>
        <p:grpSpPr>
          <a:xfrm>
            <a:off x="457200" y="1052512"/>
            <a:ext cx="4405599" cy="5259730"/>
            <a:chOff x="288" y="1152"/>
            <a:chExt cx="2545" cy="2990"/>
          </a:xfrm>
        </p:grpSpPr>
        <p:sp>
          <p:nvSpPr>
            <p:cNvPr id="358" name="Google Shape;358;p44"/>
            <p:cNvSpPr txBox="1"/>
            <p:nvPr/>
          </p:nvSpPr>
          <p:spPr>
            <a:xfrm>
              <a:off x="1984" y="3911"/>
              <a:ext cx="848" cy="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</p:txBody>
        </p:sp>
        <p:sp>
          <p:nvSpPr>
            <p:cNvPr id="359" name="Google Shape;359;p44"/>
            <p:cNvSpPr txBox="1"/>
            <p:nvPr/>
          </p:nvSpPr>
          <p:spPr>
            <a:xfrm>
              <a:off x="1136" y="3911"/>
              <a:ext cx="846" cy="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marron</a:t>
              </a:r>
              <a:endParaRPr/>
            </a:p>
          </p:txBody>
        </p:sp>
        <p:sp>
          <p:nvSpPr>
            <p:cNvPr id="360" name="Google Shape;360;p44"/>
            <p:cNvSpPr txBox="1"/>
            <p:nvPr/>
          </p:nvSpPr>
          <p:spPr>
            <a:xfrm>
              <a:off x="288" y="3911"/>
              <a:ext cx="848" cy="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/>
            </a:p>
          </p:txBody>
        </p:sp>
        <p:sp>
          <p:nvSpPr>
            <p:cNvPr id="361" name="Google Shape;361;p44"/>
            <p:cNvSpPr txBox="1"/>
            <p:nvPr/>
          </p:nvSpPr>
          <p:spPr>
            <a:xfrm>
              <a:off x="1984" y="3508"/>
              <a:ext cx="848" cy="4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  <p:sp>
          <p:nvSpPr>
            <p:cNvPr id="362" name="Google Shape;362;p44"/>
            <p:cNvSpPr txBox="1"/>
            <p:nvPr/>
          </p:nvSpPr>
          <p:spPr>
            <a:xfrm>
              <a:off x="1136" y="3508"/>
              <a:ext cx="846" cy="4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Branco com marrom</a:t>
              </a:r>
              <a:endParaRPr/>
            </a:p>
          </p:txBody>
        </p:sp>
        <p:sp>
          <p:nvSpPr>
            <p:cNvPr id="363" name="Google Shape;363;p44"/>
            <p:cNvSpPr txBox="1"/>
            <p:nvPr/>
          </p:nvSpPr>
          <p:spPr>
            <a:xfrm>
              <a:off x="288" y="3508"/>
              <a:ext cx="848" cy="4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/>
            </a:p>
          </p:txBody>
        </p:sp>
        <p:sp>
          <p:nvSpPr>
            <p:cNvPr id="364" name="Google Shape;364;p44"/>
            <p:cNvSpPr txBox="1"/>
            <p:nvPr/>
          </p:nvSpPr>
          <p:spPr>
            <a:xfrm>
              <a:off x="1984" y="3278"/>
              <a:ext cx="848" cy="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365" name="Google Shape;365;p44"/>
            <p:cNvSpPr txBox="1"/>
            <p:nvPr/>
          </p:nvSpPr>
          <p:spPr>
            <a:xfrm>
              <a:off x="1136" y="3278"/>
              <a:ext cx="846" cy="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Laranja</a:t>
              </a:r>
              <a:endParaRPr/>
            </a:p>
          </p:txBody>
        </p:sp>
        <p:sp>
          <p:nvSpPr>
            <p:cNvPr id="366" name="Google Shape;366;p44"/>
            <p:cNvSpPr txBox="1"/>
            <p:nvPr/>
          </p:nvSpPr>
          <p:spPr>
            <a:xfrm>
              <a:off x="288" y="3278"/>
              <a:ext cx="848" cy="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/>
            </a:p>
          </p:txBody>
        </p:sp>
        <p:sp>
          <p:nvSpPr>
            <p:cNvPr id="367" name="Google Shape;367;p44"/>
            <p:cNvSpPr txBox="1"/>
            <p:nvPr/>
          </p:nvSpPr>
          <p:spPr>
            <a:xfrm>
              <a:off x="1984" y="2875"/>
              <a:ext cx="848" cy="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/>
            </a:p>
          </p:txBody>
        </p:sp>
        <p:sp>
          <p:nvSpPr>
            <p:cNvPr id="368" name="Google Shape;368;p44"/>
            <p:cNvSpPr txBox="1"/>
            <p:nvPr/>
          </p:nvSpPr>
          <p:spPr>
            <a:xfrm>
              <a:off x="1136" y="2875"/>
              <a:ext cx="846" cy="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Branco com azul</a:t>
              </a:r>
              <a:endParaRPr/>
            </a:p>
          </p:txBody>
        </p:sp>
        <p:sp>
          <p:nvSpPr>
            <p:cNvPr id="369" name="Google Shape;369;p44"/>
            <p:cNvSpPr txBox="1"/>
            <p:nvPr/>
          </p:nvSpPr>
          <p:spPr>
            <a:xfrm>
              <a:off x="288" y="2875"/>
              <a:ext cx="848" cy="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</p:txBody>
        </p:sp>
        <p:sp>
          <p:nvSpPr>
            <p:cNvPr id="370" name="Google Shape;370;p44"/>
            <p:cNvSpPr txBox="1"/>
            <p:nvPr/>
          </p:nvSpPr>
          <p:spPr>
            <a:xfrm>
              <a:off x="1984" y="2645"/>
              <a:ext cx="848" cy="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/>
            </a:p>
          </p:txBody>
        </p:sp>
        <p:sp>
          <p:nvSpPr>
            <p:cNvPr id="371" name="Google Shape;371;p44"/>
            <p:cNvSpPr txBox="1"/>
            <p:nvPr/>
          </p:nvSpPr>
          <p:spPr>
            <a:xfrm>
              <a:off x="1136" y="2645"/>
              <a:ext cx="846" cy="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Azul</a:t>
              </a:r>
              <a:endParaRPr/>
            </a:p>
          </p:txBody>
        </p:sp>
        <p:sp>
          <p:nvSpPr>
            <p:cNvPr id="372" name="Google Shape;372;p44"/>
            <p:cNvSpPr txBox="1"/>
            <p:nvPr/>
          </p:nvSpPr>
          <p:spPr>
            <a:xfrm>
              <a:off x="288" y="2645"/>
              <a:ext cx="848" cy="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  <p:sp>
          <p:nvSpPr>
            <p:cNvPr id="373" name="Google Shape;373;p44"/>
            <p:cNvSpPr txBox="1"/>
            <p:nvPr/>
          </p:nvSpPr>
          <p:spPr>
            <a:xfrm>
              <a:off x="1984" y="2242"/>
              <a:ext cx="848" cy="4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374" name="Google Shape;374;p44"/>
            <p:cNvSpPr txBox="1"/>
            <p:nvPr/>
          </p:nvSpPr>
          <p:spPr>
            <a:xfrm>
              <a:off x="1136" y="2242"/>
              <a:ext cx="846" cy="4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Branco com laranja</a:t>
              </a:r>
              <a:endParaRPr/>
            </a:p>
          </p:txBody>
        </p:sp>
        <p:sp>
          <p:nvSpPr>
            <p:cNvPr id="375" name="Google Shape;375;p44"/>
            <p:cNvSpPr txBox="1"/>
            <p:nvPr/>
          </p:nvSpPr>
          <p:spPr>
            <a:xfrm>
              <a:off x="288" y="2242"/>
              <a:ext cx="848" cy="4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376" name="Google Shape;376;p44"/>
            <p:cNvSpPr txBox="1"/>
            <p:nvPr/>
          </p:nvSpPr>
          <p:spPr>
            <a:xfrm>
              <a:off x="1984" y="2012"/>
              <a:ext cx="848" cy="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/>
            </a:p>
          </p:txBody>
        </p:sp>
        <p:sp>
          <p:nvSpPr>
            <p:cNvPr id="377" name="Google Shape;377;p44"/>
            <p:cNvSpPr txBox="1"/>
            <p:nvPr/>
          </p:nvSpPr>
          <p:spPr>
            <a:xfrm>
              <a:off x="1136" y="2012"/>
              <a:ext cx="846" cy="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Verde </a:t>
              </a:r>
              <a:endParaRPr/>
            </a:p>
          </p:txBody>
        </p:sp>
        <p:sp>
          <p:nvSpPr>
            <p:cNvPr id="378" name="Google Shape;378;p44"/>
            <p:cNvSpPr txBox="1"/>
            <p:nvPr/>
          </p:nvSpPr>
          <p:spPr>
            <a:xfrm>
              <a:off x="288" y="2012"/>
              <a:ext cx="848" cy="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379" name="Google Shape;379;p44"/>
            <p:cNvSpPr txBox="1"/>
            <p:nvPr/>
          </p:nvSpPr>
          <p:spPr>
            <a:xfrm>
              <a:off x="1984" y="1609"/>
              <a:ext cx="848" cy="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380" name="Google Shape;380;p44"/>
            <p:cNvSpPr txBox="1"/>
            <p:nvPr/>
          </p:nvSpPr>
          <p:spPr>
            <a:xfrm>
              <a:off x="1136" y="1609"/>
              <a:ext cx="846" cy="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Branco com verde</a:t>
              </a:r>
              <a:endParaRPr/>
            </a:p>
          </p:txBody>
        </p:sp>
        <p:sp>
          <p:nvSpPr>
            <p:cNvPr id="381" name="Google Shape;381;p44"/>
            <p:cNvSpPr txBox="1"/>
            <p:nvPr/>
          </p:nvSpPr>
          <p:spPr>
            <a:xfrm>
              <a:off x="288" y="1609"/>
              <a:ext cx="848" cy="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382" name="Google Shape;382;p44"/>
            <p:cNvSpPr txBox="1"/>
            <p:nvPr/>
          </p:nvSpPr>
          <p:spPr>
            <a:xfrm>
              <a:off x="1984" y="1152"/>
              <a:ext cx="848" cy="4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Pino ( Conector B)‏</a:t>
              </a:r>
              <a:endParaRPr/>
            </a:p>
          </p:txBody>
        </p:sp>
        <p:sp>
          <p:nvSpPr>
            <p:cNvPr id="383" name="Google Shape;383;p44"/>
            <p:cNvSpPr txBox="1"/>
            <p:nvPr/>
          </p:nvSpPr>
          <p:spPr>
            <a:xfrm>
              <a:off x="1136" y="1152"/>
              <a:ext cx="846" cy="4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Cor </a:t>
              </a:r>
              <a:endParaRPr/>
            </a:p>
          </p:txBody>
        </p:sp>
        <p:sp>
          <p:nvSpPr>
            <p:cNvPr id="384" name="Google Shape;384;p44"/>
            <p:cNvSpPr txBox="1"/>
            <p:nvPr/>
          </p:nvSpPr>
          <p:spPr>
            <a:xfrm>
              <a:off x="288" y="1152"/>
              <a:ext cx="848" cy="4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Pino (conector A)‏</a:t>
              </a:r>
              <a:endParaRPr/>
            </a:p>
          </p:txBody>
        </p:sp>
        <p:cxnSp>
          <p:nvCxnSpPr>
            <p:cNvPr id="385" name="Google Shape;385;p44"/>
            <p:cNvCxnSpPr/>
            <p:nvPr/>
          </p:nvCxnSpPr>
          <p:spPr>
            <a:xfrm>
              <a:off x="288" y="1152"/>
              <a:ext cx="2544" cy="1"/>
            </a:xfrm>
            <a:prstGeom prst="straightConnector1">
              <a:avLst/>
            </a:prstGeom>
            <a:noFill/>
            <a:ln cap="flat" cmpd="sng" w="284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86" name="Google Shape;386;p44"/>
            <p:cNvCxnSpPr/>
            <p:nvPr/>
          </p:nvCxnSpPr>
          <p:spPr>
            <a:xfrm>
              <a:off x="288" y="1609"/>
              <a:ext cx="2544" cy="3"/>
            </a:xfrm>
            <a:prstGeom prst="straightConnector1">
              <a:avLst/>
            </a:prstGeom>
            <a:noFill/>
            <a:ln cap="flat" cmpd="sng" w="126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87" name="Google Shape;387;p44"/>
            <p:cNvCxnSpPr/>
            <p:nvPr/>
          </p:nvCxnSpPr>
          <p:spPr>
            <a:xfrm>
              <a:off x="288" y="2012"/>
              <a:ext cx="2544" cy="1"/>
            </a:xfrm>
            <a:prstGeom prst="straightConnector1">
              <a:avLst/>
            </a:prstGeom>
            <a:noFill/>
            <a:ln cap="flat" cmpd="sng" w="126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88" name="Google Shape;388;p44"/>
            <p:cNvCxnSpPr/>
            <p:nvPr/>
          </p:nvCxnSpPr>
          <p:spPr>
            <a:xfrm>
              <a:off x="288" y="2242"/>
              <a:ext cx="2544" cy="1"/>
            </a:xfrm>
            <a:prstGeom prst="straightConnector1">
              <a:avLst/>
            </a:prstGeom>
            <a:noFill/>
            <a:ln cap="flat" cmpd="sng" w="126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89" name="Google Shape;389;p44"/>
            <p:cNvCxnSpPr/>
            <p:nvPr/>
          </p:nvCxnSpPr>
          <p:spPr>
            <a:xfrm>
              <a:off x="288" y="2645"/>
              <a:ext cx="2544" cy="3"/>
            </a:xfrm>
            <a:prstGeom prst="straightConnector1">
              <a:avLst/>
            </a:prstGeom>
            <a:noFill/>
            <a:ln cap="flat" cmpd="sng" w="126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90" name="Google Shape;390;p44"/>
            <p:cNvCxnSpPr/>
            <p:nvPr/>
          </p:nvCxnSpPr>
          <p:spPr>
            <a:xfrm>
              <a:off x="288" y="2875"/>
              <a:ext cx="2544" cy="1"/>
            </a:xfrm>
            <a:prstGeom prst="straightConnector1">
              <a:avLst/>
            </a:prstGeom>
            <a:noFill/>
            <a:ln cap="flat" cmpd="sng" w="126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91" name="Google Shape;391;p44"/>
            <p:cNvCxnSpPr/>
            <p:nvPr/>
          </p:nvCxnSpPr>
          <p:spPr>
            <a:xfrm>
              <a:off x="288" y="3278"/>
              <a:ext cx="2544" cy="1"/>
            </a:xfrm>
            <a:prstGeom prst="straightConnector1">
              <a:avLst/>
            </a:prstGeom>
            <a:noFill/>
            <a:ln cap="flat" cmpd="sng" w="126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92" name="Google Shape;392;p44"/>
            <p:cNvCxnSpPr/>
            <p:nvPr/>
          </p:nvCxnSpPr>
          <p:spPr>
            <a:xfrm>
              <a:off x="288" y="3508"/>
              <a:ext cx="2544" cy="1"/>
            </a:xfrm>
            <a:prstGeom prst="straightConnector1">
              <a:avLst/>
            </a:prstGeom>
            <a:noFill/>
            <a:ln cap="flat" cmpd="sng" w="126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93" name="Google Shape;393;p44"/>
            <p:cNvCxnSpPr/>
            <p:nvPr/>
          </p:nvCxnSpPr>
          <p:spPr>
            <a:xfrm>
              <a:off x="288" y="3911"/>
              <a:ext cx="2544" cy="1"/>
            </a:xfrm>
            <a:prstGeom prst="straightConnector1">
              <a:avLst/>
            </a:prstGeom>
            <a:noFill/>
            <a:ln cap="flat" cmpd="sng" w="126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94" name="Google Shape;394;p44"/>
            <p:cNvCxnSpPr/>
            <p:nvPr/>
          </p:nvCxnSpPr>
          <p:spPr>
            <a:xfrm>
              <a:off x="288" y="4141"/>
              <a:ext cx="2544" cy="1"/>
            </a:xfrm>
            <a:prstGeom prst="straightConnector1">
              <a:avLst/>
            </a:prstGeom>
            <a:noFill/>
            <a:ln cap="flat" cmpd="sng" w="284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95" name="Google Shape;395;p44"/>
            <p:cNvCxnSpPr/>
            <p:nvPr/>
          </p:nvCxnSpPr>
          <p:spPr>
            <a:xfrm>
              <a:off x="288" y="1152"/>
              <a:ext cx="1" cy="2989"/>
            </a:xfrm>
            <a:prstGeom prst="straightConnector1">
              <a:avLst/>
            </a:prstGeom>
            <a:noFill/>
            <a:ln cap="flat" cmpd="sng" w="284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96" name="Google Shape;396;p44"/>
            <p:cNvCxnSpPr/>
            <p:nvPr/>
          </p:nvCxnSpPr>
          <p:spPr>
            <a:xfrm>
              <a:off x="1136" y="1152"/>
              <a:ext cx="1" cy="2989"/>
            </a:xfrm>
            <a:prstGeom prst="straightConnector1">
              <a:avLst/>
            </a:prstGeom>
            <a:noFill/>
            <a:ln cap="flat" cmpd="sng" w="126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97" name="Google Shape;397;p44"/>
            <p:cNvCxnSpPr/>
            <p:nvPr/>
          </p:nvCxnSpPr>
          <p:spPr>
            <a:xfrm>
              <a:off x="1984" y="1152"/>
              <a:ext cx="1" cy="2989"/>
            </a:xfrm>
            <a:prstGeom prst="straightConnector1">
              <a:avLst/>
            </a:prstGeom>
            <a:noFill/>
            <a:ln cap="flat" cmpd="sng" w="126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98" name="Google Shape;398;p44"/>
            <p:cNvCxnSpPr/>
            <p:nvPr/>
          </p:nvCxnSpPr>
          <p:spPr>
            <a:xfrm>
              <a:off x="2832" y="1152"/>
              <a:ext cx="1" cy="2989"/>
            </a:xfrm>
            <a:prstGeom prst="straightConnector1">
              <a:avLst/>
            </a:prstGeom>
            <a:noFill/>
            <a:ln cap="flat" cmpd="sng" w="284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pic>
        <p:nvPicPr>
          <p:cNvPr id="399" name="Google Shape;39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3800" y="1916112"/>
            <a:ext cx="3911600" cy="32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5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05" name="Google Shape;405;p45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  <p:sp>
        <p:nvSpPr>
          <p:cNvPr id="406" name="Google Shape;406;p45"/>
          <p:cNvSpPr txBox="1"/>
          <p:nvPr/>
        </p:nvSpPr>
        <p:spPr>
          <a:xfrm>
            <a:off x="323850" y="115887"/>
            <a:ext cx="70564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F71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295F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 trançado com blindagem (STP)‏</a:t>
            </a:r>
            <a:endParaRPr/>
          </a:p>
        </p:txBody>
      </p:sp>
      <p:sp>
        <p:nvSpPr>
          <p:cNvPr id="407" name="Google Shape;407;p45"/>
          <p:cNvSpPr txBox="1"/>
          <p:nvPr/>
        </p:nvSpPr>
        <p:spPr>
          <a:xfrm>
            <a:off x="468312" y="1484312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Este cabo oferece uma blindagem maior contra interferências eletromagnéticas;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Existem dois tipos:</a:t>
            </a:r>
            <a:endParaRPr/>
          </a:p>
          <a:p>
            <a:pPr indent="-276225" lvl="1" marL="542925" marR="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O mais simples, que possui apenas uma malha, sua impedância é de 100ohms;</a:t>
            </a:r>
            <a:endParaRPr/>
          </a:p>
          <a:p>
            <a:pPr indent="-276225" lvl="1" marL="542925" marR="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O outro apresenta uma malha individual para cada par trançado, além de uma malha externa proteger o conjunto. Sua impedância é de 150 ohms e é utilizado em redes Token Ring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4F4D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6"/>
          <p:cNvSpPr txBox="1"/>
          <p:nvPr>
            <p:ph idx="1" type="body"/>
          </p:nvPr>
        </p:nvSpPr>
        <p:spPr>
          <a:xfrm>
            <a:off x="468312" y="1268412"/>
            <a:ext cx="8351837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fibra óptica transmite informações através de sinais luminosos, em vez de sinais elétricos. </a:t>
            </a:r>
            <a:endParaRPr/>
          </a:p>
          <a:p>
            <a:pPr indent="-276225" lvl="1" marL="542925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idéia é simples: luz transmitida indica um valor 1 e luz não transmitida, um valor 0.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Interferências eletromagnéticas não ocorrem no tráfego da luz, logo a fibra óptica é totalmente imune a ruídos;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sinal sofre menos do efeito de atenuação, logo teremos um cabo de fibra longo sem necessidade de repetidores.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distância de um segmento do tipo de fibra óptica mais usado é de 2km, há fibras que permitem cabos maiores ou menores que este limite;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4F4D5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3" name="Google Shape;413;p46"/>
          <p:cNvSpPr txBox="1"/>
          <p:nvPr>
            <p:ph idx="4294967295" type="title"/>
          </p:nvPr>
        </p:nvSpPr>
        <p:spPr>
          <a:xfrm>
            <a:off x="468313" y="117426"/>
            <a:ext cx="6984304" cy="10081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E7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95E70"/>
                </a:solidFill>
                <a:latin typeface="Arial"/>
                <a:ea typeface="Arial"/>
                <a:cs typeface="Arial"/>
                <a:sym typeface="Arial"/>
              </a:rPr>
              <a:t>Fibra óptica</a:t>
            </a:r>
            <a:endParaRPr/>
          </a:p>
        </p:txBody>
      </p:sp>
      <p:sp>
        <p:nvSpPr>
          <p:cNvPr id="414" name="Google Shape;414;p46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15" name="Google Shape;415;p46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7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95E70"/>
              </a:solidFill>
            </a:endParaRPr>
          </a:p>
        </p:txBody>
      </p:sp>
      <p:sp>
        <p:nvSpPr>
          <p:cNvPr id="421" name="Google Shape;421;p47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22" name="Google Shape;422;p47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  <p:sp>
        <p:nvSpPr>
          <p:cNvPr id="423" name="Google Shape;423;p47"/>
          <p:cNvSpPr txBox="1"/>
          <p:nvPr/>
        </p:nvSpPr>
        <p:spPr>
          <a:xfrm>
            <a:off x="539750" y="1412875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A fibra óptica não conduz corrente elétrica;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Como a luz só pode ser transmitida em uma direção por vez, o cabo de fibra óptica possui duas fibras, uma para a transmissão de dados e outra para a recepção, permitindo a comunicação full-duplex.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O conector mais usado por redes de fibra óptica chama-se ST </a:t>
            </a:r>
            <a:r>
              <a:rPr b="0" i="1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(straight</a:t>
            </a: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, ponta reta);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8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95E70"/>
              </a:solidFill>
            </a:endParaRPr>
          </a:p>
        </p:txBody>
      </p:sp>
      <p:sp>
        <p:nvSpPr>
          <p:cNvPr id="429" name="Google Shape;429;p48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30" name="Google Shape;430;p48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  <p:pic>
        <p:nvPicPr>
          <p:cNvPr id="431" name="Google Shape;43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750" y="1844675"/>
            <a:ext cx="4206875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3800" y="1773237"/>
            <a:ext cx="314325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9"/>
          <p:cNvSpPr txBox="1"/>
          <p:nvPr>
            <p:ph idx="1" type="body"/>
          </p:nvPr>
        </p:nvSpPr>
        <p:spPr>
          <a:xfrm>
            <a:off x="468312" y="1268412"/>
            <a:ext cx="8351837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A fibra óptica perde no preço para os cabos metálicos;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Embora, o preço da fibra tenha diminuído muito nos últimos anos, a instalação ainda é cara;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A solução mais usada na maioria das redes é uma mistura dos meios de transmissão, ou seja, uma implementação mista. Fibras ópticas nas comunicações que exijam alto desempenho (backbone), e par trançado sem blindagem (</a:t>
            </a:r>
            <a:r>
              <a:rPr b="0" i="1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UTP</a:t>
            </a: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) nas conexões dos micros com os dispositivos concentradores.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4F4D5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49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95E70"/>
              </a:solidFill>
            </a:endParaRPr>
          </a:p>
        </p:txBody>
      </p:sp>
      <p:sp>
        <p:nvSpPr>
          <p:cNvPr id="439" name="Google Shape;439;p49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40" name="Google Shape;440;p49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0"/>
          <p:cNvSpPr txBox="1"/>
          <p:nvPr>
            <p:ph idx="1" type="body"/>
          </p:nvPr>
        </p:nvSpPr>
        <p:spPr>
          <a:xfrm>
            <a:off x="468312" y="1268412"/>
            <a:ext cx="8351837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Existem dois tipos de fibras ópticas: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Classificação: como a luz é transmitida através da fibra;</a:t>
            </a:r>
            <a:endParaRPr/>
          </a:p>
          <a:p>
            <a:pPr indent="-276225" lvl="1" marL="542925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Modo múltiplo </a:t>
            </a:r>
            <a:r>
              <a:rPr b="0" i="1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(MME, multiple mode fiber);</a:t>
            </a:r>
            <a:endParaRPr/>
          </a:p>
          <a:p>
            <a:pPr indent="-276225" lvl="1" marL="542925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Modo único </a:t>
            </a:r>
            <a:r>
              <a:rPr b="0" i="1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(SMF, single mode fiber).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Fibras de modo múltiplo são mais grossas do que as fibras de modo único;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A luz reflete mais de uma vez nas paredes da fibra de modo múltiplo, com isso a informação chega várias vez ao destino;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O receptor detecta a informação correta e elimina os sinais de luz duplicados, quanto maior o cabo maior é este problema;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4F4D5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50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F71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295F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Tipos de fibras ópticas</a:t>
            </a:r>
            <a:endParaRPr/>
          </a:p>
        </p:txBody>
      </p:sp>
      <p:sp>
        <p:nvSpPr>
          <p:cNvPr id="447" name="Google Shape;447;p50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48" name="Google Shape;448;p50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1"/>
          <p:cNvSpPr txBox="1"/>
          <p:nvPr>
            <p:ph idx="1" type="body"/>
          </p:nvPr>
        </p:nvSpPr>
        <p:spPr>
          <a:xfrm>
            <a:off x="468312" y="1268412"/>
            <a:ext cx="8351837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As fibras ópticas de modo único são mais finas, a luz não ricocheteia nas paredes da fibra, chegando diretamente ao receptor;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Esta fibra consegue ter um desempenho e um comprimento maior do que a fibra de modo múltiplo;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Na fibra óptica de modo único é mais difícil alinhar o feixe de luz produzido pela placa de rede com a fibra de transmissão, de modo que a luz possa ser transmitida e alinhar a fibra de recepção com o receptor de luz, fazendo com que a placa receba as informações corretamente.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4F4D5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51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95E70"/>
              </a:solidFill>
            </a:endParaRPr>
          </a:p>
        </p:txBody>
      </p:sp>
      <p:sp>
        <p:nvSpPr>
          <p:cNvPr id="455" name="Google Shape;455;p51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56" name="Google Shape;456;p51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2"/>
          <p:cNvSpPr txBox="1"/>
          <p:nvPr>
            <p:ph idx="1" type="body"/>
          </p:nvPr>
        </p:nvSpPr>
        <p:spPr>
          <a:xfrm>
            <a:off x="468312" y="1268412"/>
            <a:ext cx="8351837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rgbClr val="4F4D5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52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95E70"/>
              </a:solidFill>
            </a:endParaRPr>
          </a:p>
        </p:txBody>
      </p:sp>
      <p:sp>
        <p:nvSpPr>
          <p:cNvPr id="463" name="Google Shape;463;p52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64" name="Google Shape;464;p52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  <p:pic>
        <p:nvPicPr>
          <p:cNvPr id="465" name="Google Shape;46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1628775"/>
            <a:ext cx="2630487" cy="1798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187" y="4005262"/>
            <a:ext cx="3116262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43437" y="1916112"/>
            <a:ext cx="382905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40425" y="4221162"/>
            <a:ext cx="2124075" cy="1801812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2"/>
          <p:cNvSpPr/>
          <p:nvPr/>
        </p:nvSpPr>
        <p:spPr>
          <a:xfrm>
            <a:off x="1258887" y="3500437"/>
            <a:ext cx="1690687" cy="4318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l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solidFill>
                  <a:srgbClr val="FFFFFF"/>
                </a:solidFill>
                <a:latin typeface="Arial Black"/>
              </a:rPr>
              <a:t>Modo múltiplo </a:t>
            </a:r>
          </a:p>
        </p:txBody>
      </p:sp>
      <p:sp>
        <p:nvSpPr>
          <p:cNvPr id="470" name="Google Shape;470;p52"/>
          <p:cNvSpPr/>
          <p:nvPr/>
        </p:nvSpPr>
        <p:spPr>
          <a:xfrm>
            <a:off x="971550" y="6021387"/>
            <a:ext cx="1793875" cy="17938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l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solidFill>
                  <a:srgbClr val="FFFFFF"/>
                </a:solidFill>
                <a:latin typeface="Arial Black"/>
              </a:rPr>
              <a:t>Modo único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3"/>
          <p:cNvSpPr txBox="1"/>
          <p:nvPr>
            <p:ph idx="1" type="body"/>
          </p:nvPr>
        </p:nvSpPr>
        <p:spPr>
          <a:xfrm>
            <a:off x="468312" y="1268412"/>
            <a:ext cx="8351837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As fibras de modo múltiplo são mais usadas em redes locais;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Existem dois tipos de fibra de modo múltiplo: as 62, 5µm, que são as mais usadas e as de 100µm , que são usadas para redes Token Riong;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Em geral, as fibras são usadas de acordo com a espessura do revestimento externo;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As fibras de 62, 5µm, têm revestimento de 125, µm chamadas de 62,5/125.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4F4D5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53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95E70"/>
              </a:solidFill>
            </a:endParaRPr>
          </a:p>
        </p:txBody>
      </p:sp>
      <p:sp>
        <p:nvSpPr>
          <p:cNvPr id="477" name="Google Shape;477;p53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78" name="Google Shape;478;p53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4"/>
          <p:cNvSpPr txBox="1"/>
          <p:nvPr>
            <p:ph idx="1" type="body"/>
          </p:nvPr>
        </p:nvSpPr>
        <p:spPr>
          <a:xfrm>
            <a:off x="468312" y="1268412"/>
            <a:ext cx="8351837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Largura de banda</a:t>
            </a:r>
            <a:endParaRPr/>
          </a:p>
          <a:p>
            <a:pPr indent="-276225" lvl="1" marL="5429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Unidade de medida MHz-Km, informa a taxa de transferência máxima da fibra. Por exemplo, uma fibra de 200 MHz-KM pode transmitir dados a 200MHz a até 1 Km de distância ou a 100MHz a até 2Km de distância.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F4D52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Perda</a:t>
            </a:r>
            <a:endParaRPr/>
          </a:p>
          <a:p>
            <a:pPr indent="-276225" lvl="1" marL="5429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Unidade de media dB/Km (decibéis por quilômetro), exemplo 3,5dB/Km, a força do sinal será diminuída 3,5dB a cada quilômetro;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4F4D5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4" name="Google Shape;484;p54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95E70"/>
              </a:solidFill>
            </a:endParaRPr>
          </a:p>
        </p:txBody>
      </p:sp>
      <p:sp>
        <p:nvSpPr>
          <p:cNvPr id="485" name="Google Shape;485;p54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86" name="Google Shape;486;p54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5"/>
          <p:cNvSpPr txBox="1"/>
          <p:nvPr>
            <p:ph idx="1" type="body"/>
          </p:nvPr>
        </p:nvSpPr>
        <p:spPr>
          <a:xfrm>
            <a:off x="468312" y="1268412"/>
            <a:ext cx="8351837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FDDI: as fibras ópticas usadas nessa arquitetura possuem um limite de comprimento de 2 Km e operam a 100 ou 200Mbps, FDDI-2;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FOIRL </a:t>
            </a:r>
            <a:r>
              <a:rPr b="0" i="1" lang="en-US" sz="2400" u="non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(fiber-optic interrepeater link): </a:t>
            </a:r>
            <a:r>
              <a:rPr b="0" i="0" lang="en-US" sz="2400" u="non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redes utilizando repetidores de fibra, comprimento do cabo 1Km;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10BaseFL: redes Ethernet utilizando fibra óptica, sua taxa de transferência máxima era 10Mbps, fibra com limite de 2Km por segmento; Fibra modo múltiplo;</a:t>
            </a:r>
            <a:endParaRPr/>
          </a:p>
          <a:p>
            <a:pPr indent="-276225" lvl="1" marL="542925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F4D52"/>
              </a:buClr>
              <a:buSzPts val="2000"/>
              <a:buFont typeface="Arial"/>
              <a:buChar char="•"/>
            </a:pPr>
            <a:r>
              <a:rPr b="0" i="1" lang="en-US" sz="20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 – fiber link</a:t>
            </a:r>
            <a:endParaRPr/>
          </a:p>
          <a:p>
            <a:pPr indent="-276225" lvl="1" marL="542925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F4D52"/>
              </a:buClr>
              <a:buSzPts val="2000"/>
              <a:buFont typeface="Arial"/>
              <a:buChar char="•"/>
            </a:pPr>
            <a:r>
              <a:rPr b="0" i="1" lang="en-US" sz="20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10BaseFB fiber backbone</a:t>
            </a:r>
            <a:endParaRPr/>
          </a:p>
          <a:p>
            <a:pPr indent="-276225" lvl="1" marL="542925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F4D52"/>
              </a:buClr>
              <a:buSzPts val="2000"/>
              <a:buFont typeface="Arial"/>
              <a:buChar char="•"/>
            </a:pPr>
            <a:r>
              <a:rPr b="0" i="1" lang="en-US" sz="20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10BaseFP fiber passive, </a:t>
            </a:r>
            <a:r>
              <a:rPr b="0" i="0" lang="en-US" sz="20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limite de 500m, 33 computadores e utilização de hubs passivos;</a:t>
            </a:r>
            <a:endParaRPr/>
          </a:p>
        </p:txBody>
      </p:sp>
      <p:sp>
        <p:nvSpPr>
          <p:cNvPr id="492" name="Google Shape;492;p55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F71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295F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Redes de fibras ópticas</a:t>
            </a:r>
            <a:endParaRPr/>
          </a:p>
        </p:txBody>
      </p:sp>
      <p:sp>
        <p:nvSpPr>
          <p:cNvPr id="493" name="Google Shape;493;p55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94" name="Google Shape;494;p55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6"/>
          <p:cNvSpPr txBox="1"/>
          <p:nvPr>
            <p:ph idx="1" type="body"/>
          </p:nvPr>
        </p:nvSpPr>
        <p:spPr>
          <a:xfrm>
            <a:off x="468312" y="1268412"/>
            <a:ext cx="8351837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100BaseFX: redes Ethernet, usando fibra de modo múltiplo operando a 100Mbps;</a:t>
            </a:r>
            <a:endParaRPr/>
          </a:p>
          <a:p>
            <a:pPr indent="-276225" lvl="1" marL="542925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A luz utilizava um comprimento de onda de 1.350nm e um limite de 412 m por segmento se operando em modo half duplex; em modo full duplex limite de 2Km por segmento;</a:t>
            </a:r>
            <a:endParaRPr/>
          </a:p>
          <a:p>
            <a:pPr indent="-276225" lvl="1" marL="542925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Segmentos de comprimento maior que 2Km podem ser feitos usando-se fibras de modo único, que também podem chegar a 20 Km ou mais.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4F4D5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56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95E70"/>
              </a:solidFill>
            </a:endParaRPr>
          </a:p>
        </p:txBody>
      </p:sp>
      <p:sp>
        <p:nvSpPr>
          <p:cNvPr id="501" name="Google Shape;501;p56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02" name="Google Shape;502;p56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7"/>
          <p:cNvSpPr txBox="1"/>
          <p:nvPr>
            <p:ph idx="1" type="body"/>
          </p:nvPr>
        </p:nvSpPr>
        <p:spPr>
          <a:xfrm>
            <a:off x="468312" y="1268412"/>
            <a:ext cx="8351837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1000BaseSX</a:t>
            </a:r>
            <a:endParaRPr/>
          </a:p>
          <a:p>
            <a:pPr indent="-276225" lvl="1" marL="542925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Redes Gigabit Ethernet;</a:t>
            </a:r>
            <a:endParaRPr/>
          </a:p>
          <a:p>
            <a:pPr indent="-276225" lvl="1" marL="542925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Comprimento de onda de 850nm na transmissão de dados e limite de comprimento do segmento de fibra é de 220m;</a:t>
            </a:r>
            <a:endParaRPr/>
          </a:p>
          <a:p>
            <a:pPr indent="-276225" lvl="1" marL="542925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Taxa de transferência 1Gbps;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ATM: tipicamente operam a duas velocidades 155Mbps ou 622Mbps e utilizam fibras do padrão 1000BaseX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4F4D5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8" name="Google Shape;508;p57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95E70"/>
              </a:solidFill>
            </a:endParaRPr>
          </a:p>
        </p:txBody>
      </p:sp>
      <p:sp>
        <p:nvSpPr>
          <p:cNvPr id="509" name="Google Shape;509;p57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10" name="Google Shape;510;p57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8"/>
          <p:cNvSpPr txBox="1"/>
          <p:nvPr>
            <p:ph idx="1" type="body"/>
          </p:nvPr>
        </p:nvSpPr>
        <p:spPr>
          <a:xfrm>
            <a:off x="468312" y="1268412"/>
            <a:ext cx="8351837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1000BaseLx</a:t>
            </a:r>
            <a:endParaRPr/>
          </a:p>
          <a:p>
            <a:pPr indent="-276225" lvl="1" marL="542925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Comprimento do segmento da fibra superior ao 1000BaseSX;</a:t>
            </a:r>
            <a:endParaRPr/>
          </a:p>
          <a:p>
            <a:pPr indent="-276225" lvl="1" marL="542925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luz possui um comprimento de onda de 1.300nm;</a:t>
            </a:r>
            <a:endParaRPr/>
          </a:p>
          <a:p>
            <a:pPr indent="-276225" lvl="1" marL="542925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Fibras de modo múltiplo o comprimento de cada trecho é 550m, para fibras de modo único o comprimento é 5KM; O LX vem de </a:t>
            </a:r>
            <a:r>
              <a:rPr b="0" i="1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 </a:t>
            </a: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 o X é o nome genérico para Gigabit Ethernet.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4F4D52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10G Base-ER</a:t>
            </a:r>
            <a:endParaRPr/>
          </a:p>
          <a:p>
            <a:pPr indent="-276225" lvl="1" marL="542925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Padrão que permite conexão de 10 Gbps usando um cabo com comprimento de até 40 Km, usando fibra óptica de modo único;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4F4D5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6" name="Google Shape;516;p58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95E70"/>
              </a:solidFill>
            </a:endParaRPr>
          </a:p>
        </p:txBody>
      </p:sp>
      <p:sp>
        <p:nvSpPr>
          <p:cNvPr id="517" name="Google Shape;517;p58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18" name="Google Shape;518;p58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9"/>
          <p:cNvSpPr txBox="1"/>
          <p:nvPr>
            <p:ph idx="1" type="body"/>
          </p:nvPr>
        </p:nvSpPr>
        <p:spPr>
          <a:xfrm>
            <a:off x="468312" y="1268412"/>
            <a:ext cx="8351837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O SC (subcriber connector): conectores quadrados para transmissão de dados;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O ST (straight Tip, ponta reta): conectores redondos;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O FC (Ferrule Connector, conector de ponteira);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O LC (Lucent): e é considerado uma versão miniatura do conector SC.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O MIC </a:t>
            </a:r>
            <a:r>
              <a:rPr b="0" i="1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(medium interface connector), </a:t>
            </a: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utilizado para redes FDDI onde as duas fibras estão presas em um único conector.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4F4D5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59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F71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295F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Conectores</a:t>
            </a:r>
            <a:endParaRPr/>
          </a:p>
        </p:txBody>
      </p:sp>
      <p:sp>
        <p:nvSpPr>
          <p:cNvPr id="525" name="Google Shape;525;p59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26" name="Google Shape;526;p59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nectoresFibra.jpg" id="531" name="Google Shape;531;p6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3540" r="3539" t="0"/>
          <a:stretch/>
        </p:blipFill>
        <p:spPr>
          <a:xfrm>
            <a:off x="1547812" y="1557337"/>
            <a:ext cx="5880100" cy="3598862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60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F7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rPr>
              <a:t>Conectores de fibra</a:t>
            </a:r>
            <a:endParaRPr/>
          </a:p>
        </p:txBody>
      </p:sp>
      <p:sp>
        <p:nvSpPr>
          <p:cNvPr id="533" name="Google Shape;533;p60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34" name="Google Shape;534;p60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1"/>
          <p:cNvSpPr txBox="1"/>
          <p:nvPr>
            <p:ph idx="1" type="body"/>
          </p:nvPr>
        </p:nvSpPr>
        <p:spPr>
          <a:xfrm>
            <a:off x="468312" y="1268412"/>
            <a:ext cx="8351837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Preparar um pequeno paragrafo sobre:</a:t>
            </a:r>
            <a:endParaRPr/>
          </a:p>
          <a:p>
            <a:pPr indent="-276225" lvl="1" marL="5429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Fios metálicos;</a:t>
            </a:r>
            <a:endParaRPr/>
          </a:p>
          <a:p>
            <a:pPr indent="-276225" lvl="1" marL="5429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Fibra óptica.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F4D52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Entrega no mural do Classroom até 9h.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F4D52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Para próxima aula dia 3 de setembro:</a:t>
            </a:r>
            <a:endParaRPr/>
          </a:p>
          <a:p>
            <a:pPr indent="-276225" lvl="1" marL="5429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4D52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Leitura das páginas 65 a 76 do livro Redes de Computadores do Andrew Tanembraum</a:t>
            </a:r>
            <a:endParaRPr/>
          </a:p>
        </p:txBody>
      </p:sp>
      <p:sp>
        <p:nvSpPr>
          <p:cNvPr id="540" name="Google Shape;540;p61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95E70"/>
              </a:solidFill>
            </a:endParaRPr>
          </a:p>
        </p:txBody>
      </p:sp>
      <p:sp>
        <p:nvSpPr>
          <p:cNvPr id="541" name="Google Shape;541;p61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42" name="Google Shape;542;p61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2"/>
          <p:cNvSpPr txBox="1"/>
          <p:nvPr>
            <p:ph type="ctrTitle"/>
          </p:nvPr>
        </p:nvSpPr>
        <p:spPr>
          <a:xfrm>
            <a:off x="1619250" y="4302125"/>
            <a:ext cx="7200900" cy="830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95E70"/>
              </a:solidFill>
            </a:endParaRPr>
          </a:p>
        </p:txBody>
      </p:sp>
      <p:sp>
        <p:nvSpPr>
          <p:cNvPr id="548" name="Google Shape;548;p62"/>
          <p:cNvSpPr txBox="1"/>
          <p:nvPr>
            <p:ph idx="1" type="subTitle"/>
          </p:nvPr>
        </p:nvSpPr>
        <p:spPr>
          <a:xfrm>
            <a:off x="1619250" y="5124450"/>
            <a:ext cx="7200900" cy="96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/>
          </a:p>
        </p:txBody>
      </p:sp>
      <p:sp>
        <p:nvSpPr>
          <p:cNvPr id="549" name="Google Shape;549;p62"/>
          <p:cNvSpPr txBox="1"/>
          <p:nvPr>
            <p:ph idx="2" type="body"/>
          </p:nvPr>
        </p:nvSpPr>
        <p:spPr>
          <a:xfrm>
            <a:off x="1619250" y="6092825"/>
            <a:ext cx="72009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rgbClr val="4F4D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3"/>
          <p:cNvSpPr txBox="1"/>
          <p:nvPr>
            <p:ph idx="1" type="body"/>
          </p:nvPr>
        </p:nvSpPr>
        <p:spPr>
          <a:xfrm>
            <a:off x="468312" y="1268412"/>
            <a:ext cx="8351837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Para utilização do ar como meio de transmissão temos as antenas que transmitem e recebem sinais enviados por meio das ondas eletromagnéticas.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Uma antena deve ter o mesmo comprimento de onda do sinal utilizado,  e este é medido por:</a:t>
            </a:r>
            <a:endParaRPr/>
          </a:p>
          <a:p>
            <a:pPr indent="-276225" lvl="1" marL="542925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F4D52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λ=velocidade/frequencia (lamba – letra gregaminúscula);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Quanto mais alta for a frequência usada, menor é o comprimento de onda e, portanto menor a antena precisa ser.</a:t>
            </a:r>
            <a:endParaRPr/>
          </a:p>
        </p:txBody>
      </p:sp>
      <p:sp>
        <p:nvSpPr>
          <p:cNvPr id="555" name="Google Shape;555;p63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F7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endParaRPr/>
          </a:p>
        </p:txBody>
      </p:sp>
      <p:sp>
        <p:nvSpPr>
          <p:cNvPr id="556" name="Google Shape;556;p63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57" name="Google Shape;557;p63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4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95E70"/>
              </a:solidFill>
            </a:endParaRPr>
          </a:p>
        </p:txBody>
      </p:sp>
      <p:sp>
        <p:nvSpPr>
          <p:cNvPr id="563" name="Google Shape;563;p64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64" name="Google Shape;564;p64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  <p:pic>
        <p:nvPicPr>
          <p:cNvPr descr="ondas.jpg" id="565" name="Google Shape;565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2" y="1268412"/>
            <a:ext cx="6426200" cy="500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5"/>
          <p:cNvSpPr txBox="1"/>
          <p:nvPr>
            <p:ph idx="1" type="body"/>
          </p:nvPr>
        </p:nvSpPr>
        <p:spPr>
          <a:xfrm>
            <a:off x="468312" y="1268412"/>
            <a:ext cx="8351837" cy="5113337"/>
          </a:xfrm>
          <a:prstGeom prst="rect">
            <a:avLst/>
          </a:prstGeom>
          <a:noFill/>
          <a:ln cap="flat" cmpd="sng" w="9525">
            <a:solidFill>
              <a:srgbClr val="00CC99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Ganho é o quanto a antena consegue amplificar o sinal;</a:t>
            </a:r>
            <a:endParaRPr/>
          </a:p>
          <a:p>
            <a:pPr indent="-276225" lvl="1" marL="542925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é medido em bel(B), que usa uma escala logarítmica e não linear: </a:t>
            </a:r>
            <a:endParaRPr/>
          </a:p>
          <a:p>
            <a:pPr indent="0" lvl="2" marL="542925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040"/>
              <a:buFont typeface="Courier New"/>
              <a:buNone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B=Log(P</a:t>
            </a:r>
            <a:r>
              <a:rPr b="0" baseline="-2500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/P</a:t>
            </a:r>
            <a:r>
              <a:rPr b="0" baseline="-2500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DESTACAR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baseline="-2500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 é a potência de referência e P</a:t>
            </a:r>
            <a:r>
              <a:rPr b="0" baseline="-2500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baseline="3000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é a potência que você está comparando com a potência de referência.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 Um decibel (dB) vale um décimo do bel, isto é,10 decibéis, equivalem a um bel.</a:t>
            </a:r>
            <a:endParaRPr/>
          </a:p>
          <a:p>
            <a:pPr indent="0" lvl="2" marL="542925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040"/>
              <a:buFont typeface="Courier New"/>
              <a:buNone/>
            </a:pP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dB= 10 Log(P</a:t>
            </a:r>
            <a:r>
              <a:rPr b="0" baseline="-2500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/P</a:t>
            </a:r>
            <a:r>
              <a:rPr b="0" baseline="-2500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4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DESTACAR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65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F7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rPr>
              <a:t>Ganho, perda e potência</a:t>
            </a:r>
            <a:endParaRPr/>
          </a:p>
        </p:txBody>
      </p:sp>
      <p:sp>
        <p:nvSpPr>
          <p:cNvPr id="572" name="Google Shape;572;p65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73" name="Google Shape;573;p65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6"/>
          <p:cNvSpPr txBox="1"/>
          <p:nvPr>
            <p:ph idx="1" type="body"/>
          </p:nvPr>
        </p:nvSpPr>
        <p:spPr>
          <a:xfrm>
            <a:off x="468312" y="1268412"/>
            <a:ext cx="8351837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Omnidirecional ( não direcional):</a:t>
            </a:r>
            <a:endParaRPr/>
          </a:p>
          <a:p>
            <a:pPr indent="-276225" lvl="1" marL="542925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F4D52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Irradiam ou capturam as ondas de rádio em todas as direções, é o tipo mais comum;</a:t>
            </a:r>
            <a:endParaRPr/>
          </a:p>
          <a:p>
            <a:pPr indent="-276225" lvl="1" marL="542925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F4D52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Usadas em TV aberta, antenas de rádio AM e FM e celulares;</a:t>
            </a:r>
            <a:endParaRPr/>
          </a:p>
          <a:p>
            <a:pPr indent="-203200" lvl="0" marL="342900" marR="0" rtl="0" algn="l">
              <a:spcBef>
                <a:spcPts val="440"/>
              </a:spcBef>
              <a:spcAft>
                <a:spcPts val="0"/>
              </a:spcAft>
              <a:buClr>
                <a:srgbClr val="4F4D52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4F4D5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66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F7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295F71"/>
                </a:solidFill>
                <a:latin typeface="Arial"/>
                <a:ea typeface="Arial"/>
                <a:cs typeface="Arial"/>
                <a:sym typeface="Arial"/>
              </a:rPr>
              <a:t>Tipos </a:t>
            </a:r>
            <a:endParaRPr/>
          </a:p>
        </p:txBody>
      </p:sp>
      <p:sp>
        <p:nvSpPr>
          <p:cNvPr id="580" name="Google Shape;580;p66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81" name="Google Shape;581;p66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  <p:pic>
        <p:nvPicPr>
          <p:cNvPr descr="Uma imagem contendo antena&#10;&#10;Descrição gerada automaticamente" id="582" name="Google Shape;58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6237" y="3213100"/>
            <a:ext cx="4856162" cy="2732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7"/>
          <p:cNvSpPr txBox="1"/>
          <p:nvPr>
            <p:ph idx="1" type="body"/>
          </p:nvPr>
        </p:nvSpPr>
        <p:spPr>
          <a:xfrm>
            <a:off x="468312" y="1268412"/>
            <a:ext cx="8351837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Antenas direcionais: irradiam ou capturam ondas de rádio somente em uma direção específica.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4F4D52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4F4D5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67"/>
          <p:cNvSpPr txBox="1"/>
          <p:nvPr>
            <p:ph type="title"/>
          </p:nvPr>
        </p:nvSpPr>
        <p:spPr>
          <a:xfrm>
            <a:off x="468312" y="117475"/>
            <a:ext cx="6985000" cy="1008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95E70"/>
              </a:solidFill>
            </a:endParaRPr>
          </a:p>
        </p:txBody>
      </p:sp>
      <p:sp>
        <p:nvSpPr>
          <p:cNvPr id="589" name="Google Shape;589;p67"/>
          <p:cNvSpPr txBox="1"/>
          <p:nvPr/>
        </p:nvSpPr>
        <p:spPr>
          <a:xfrm>
            <a:off x="6902450" y="6553200"/>
            <a:ext cx="21336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90" name="Google Shape;590;p67"/>
          <p:cNvSpPr txBox="1"/>
          <p:nvPr/>
        </p:nvSpPr>
        <p:spPr>
          <a:xfrm>
            <a:off x="179387" y="6546850"/>
            <a:ext cx="5976937" cy="33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D5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4F4D52"/>
                </a:solidFill>
                <a:latin typeface="Arial"/>
                <a:ea typeface="Arial"/>
                <a:cs typeface="Arial"/>
                <a:sym typeface="Arial"/>
              </a:rPr>
              <a:t>Profª.  Renata de Sousa da Silva Tolentino</a:t>
            </a:r>
            <a:endParaRPr/>
          </a:p>
        </p:txBody>
      </p:sp>
      <p:pic>
        <p:nvPicPr>
          <p:cNvPr descr="Uma imagem contendo ao ar livre, objeto, avião, neve&#10;&#10;Descrição gerada automaticamente" id="591" name="Google Shape;591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550" y="2276475"/>
            <a:ext cx="6400800" cy="36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8"/>
          <p:cNvSpPr txBox="1"/>
          <p:nvPr>
            <p:ph idx="4294967295" type="title"/>
          </p:nvPr>
        </p:nvSpPr>
        <p:spPr>
          <a:xfrm>
            <a:off x="468313" y="548680"/>
            <a:ext cx="849662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Referências </a:t>
            </a:r>
            <a:endParaRPr/>
          </a:p>
        </p:txBody>
      </p:sp>
      <p:sp>
        <p:nvSpPr>
          <p:cNvPr id="597" name="Google Shape;597;p68"/>
          <p:cNvSpPr txBox="1"/>
          <p:nvPr>
            <p:ph idx="1" type="body"/>
          </p:nvPr>
        </p:nvSpPr>
        <p:spPr>
          <a:xfrm>
            <a:off x="468312" y="1268412"/>
            <a:ext cx="8496300" cy="504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AutoNum type="arabicPeriod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TORRES, Gabriel. </a:t>
            </a:r>
            <a: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Hardware: </a:t>
            </a: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curso completo, Rio de Janeiro, 2 edição,  NovaTerra, 2014. 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rgbClr val="4F4D52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3_TemaFUMEC">
  <a:themeElements>
    <a:clrScheme name="FUMEC VIRTUAL">
      <a:dk1>
        <a:srgbClr val="4E4D51"/>
      </a:dk1>
      <a:lt1>
        <a:srgbClr val="FFFFFF"/>
      </a:lt1>
      <a:dk2>
        <a:srgbClr val="69676D"/>
      </a:dk2>
      <a:lt2>
        <a:srgbClr val="FFFFFF"/>
      </a:lt2>
      <a:accent1>
        <a:srgbClr val="0070C0"/>
      </a:accent1>
      <a:accent2>
        <a:srgbClr val="A6D0DE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0070C0"/>
      </a:hlink>
      <a:folHlink>
        <a:srgbClr val="3D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TemaFUMEC">
  <a:themeElements>
    <a:clrScheme name="FUMEC VIRTUAL">
      <a:dk1>
        <a:srgbClr val="4E4D51"/>
      </a:dk1>
      <a:lt1>
        <a:srgbClr val="FFFFFF"/>
      </a:lt1>
      <a:dk2>
        <a:srgbClr val="69676D"/>
      </a:dk2>
      <a:lt2>
        <a:srgbClr val="FFFFFF"/>
      </a:lt2>
      <a:accent1>
        <a:srgbClr val="0070C0"/>
      </a:accent1>
      <a:accent2>
        <a:srgbClr val="A6D0DE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0070C0"/>
      </a:hlink>
      <a:folHlink>
        <a:srgbClr val="3D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FUMEC">
  <a:themeElements>
    <a:clrScheme name="FUMEC VIRTUAL">
      <a:dk1>
        <a:srgbClr val="4E4D51"/>
      </a:dk1>
      <a:lt1>
        <a:srgbClr val="FFFFFF"/>
      </a:lt1>
      <a:dk2>
        <a:srgbClr val="69676D"/>
      </a:dk2>
      <a:lt2>
        <a:srgbClr val="FFFFFF"/>
      </a:lt2>
      <a:accent1>
        <a:srgbClr val="0070C0"/>
      </a:accent1>
      <a:accent2>
        <a:srgbClr val="A6D0DE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0070C0"/>
      </a:hlink>
      <a:folHlink>
        <a:srgbClr val="3D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5_TemaFUMEC">
  <a:themeElements>
    <a:clrScheme name="FUMEC VIRTUAL">
      <a:dk1>
        <a:srgbClr val="4E4D51"/>
      </a:dk1>
      <a:lt1>
        <a:srgbClr val="FFFFFF"/>
      </a:lt1>
      <a:dk2>
        <a:srgbClr val="69676D"/>
      </a:dk2>
      <a:lt2>
        <a:srgbClr val="FFFFFF"/>
      </a:lt2>
      <a:accent1>
        <a:srgbClr val="0070C0"/>
      </a:accent1>
      <a:accent2>
        <a:srgbClr val="A6D0DE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0070C0"/>
      </a:hlink>
      <a:folHlink>
        <a:srgbClr val="3D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4_TemaFUMEC">
  <a:themeElements>
    <a:clrScheme name="FUMEC VIRTUAL">
      <a:dk1>
        <a:srgbClr val="4E4D51"/>
      </a:dk1>
      <a:lt1>
        <a:srgbClr val="FFFFFF"/>
      </a:lt1>
      <a:dk2>
        <a:srgbClr val="69676D"/>
      </a:dk2>
      <a:lt2>
        <a:srgbClr val="FFFFFF"/>
      </a:lt2>
      <a:accent1>
        <a:srgbClr val="0070C0"/>
      </a:accent1>
      <a:accent2>
        <a:srgbClr val="A6D0DE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0070C0"/>
      </a:hlink>
      <a:folHlink>
        <a:srgbClr val="3D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1_TemaFUMEC">
  <a:themeElements>
    <a:clrScheme name="FUMEC VIRTUAL">
      <a:dk1>
        <a:srgbClr val="4E4D51"/>
      </a:dk1>
      <a:lt1>
        <a:srgbClr val="FFFFFF"/>
      </a:lt1>
      <a:dk2>
        <a:srgbClr val="69676D"/>
      </a:dk2>
      <a:lt2>
        <a:srgbClr val="FFFFFF"/>
      </a:lt2>
      <a:accent1>
        <a:srgbClr val="0070C0"/>
      </a:accent1>
      <a:accent2>
        <a:srgbClr val="A6D0DE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0070C0"/>
      </a:hlink>
      <a:folHlink>
        <a:srgbClr val="3D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